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Memoria is the sales engineer track build. One line: it interviews the rep by voice, does the research, builds the campaign, checks every claim, and gets sharper on each account because it remembers.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pains. Prep lives in heads and call notes. Generic AI writes plausible copy with invented numbers. And every chat starts from zero, so the new objection from last call never makes it into the plan.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pipeline left to right. The interview is the only part the rep has to sit through; everything after runs in the background while the screen shows each stage.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Speech-to-text is Whisper running on WebGPU inside the browser, so audio never leaves the laptop. Memoria's voice is Kokoro, served from a Podman container, streamed sentence by sentence. Typing works too. Every answer lands in the slot board on the right with the rep's exact words as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Sixteen slots, grouped Deal, Pain, Decision, Risk, Campaign. Status is confirmed, unsure, open or conflict. Conflict fires when the rep contradicts memory, and Memoria asks which is current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zones. Browser: Next.js plus Whisper on WebGPU. Podman: the web, api and tts containers. Anthropic: Claude Sonnet 5.5 on the Messages API for the chain, with structured outputs and caching, web search for research, and Managed Agents with one memory store per tenant for long-term memory.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that makes it safe to send. Retrieval and research produce a numbered ledger, E1, E2 and so on, with a verbatim quote, source and date. The code assigns the IDs, not the model. Every asset must cite them. A strict verifier checks each claim; unsupported claims get one revision, then the asset ships flagged for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timeline on the right with durations. Each asset shows its verdict, how many placeholders the rep still needs to fill, and download links for every format.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one: stack overview, earlier objections, the pitch deck. Round two: a new objection from the latest call and a competitive update from product management. Same question both times. In session two the answer leads with what changed and the pitch order moves. The memory diff shows exactly what Memoria chose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by seven parallel tracks, each test-driven, then integrated. Numbers are from the final run. The eval follows the design constitution: multiple trials, rate plus pass@k and pass^k, a holdout tenant we never tune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with the room. Everything on the left was run today. The right column is what we have not yet measured, and the eval harness exists to measure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40080" y="2011680"/>
            <a:ext cx="10058400" cy="365760"/>
          </a:xfrm>
          <a:prstGeom prst="rect">
            <a:avLst/>
          </a:prstGeom>
          <a:noFill/>
        </p:spPr>
        <p:txBody>
          <a:bodyPr wrap="square" lIns="0" rIns="0" tIns="0" bIns="0">
            <a:spAutoFit/>
          </a:bodyPr>
          <a:lstStyle/>
          <a:p>
            <a:pPr algn="l">
              <a:lnSpc>
                <a:spcPct val="115000"/>
              </a:lnSpc>
            </a:pPr>
            <a:r>
              <a:rPr sz="1200" b="1">
                <a:solidFill>
                  <a:srgbClr val="0F5C5C"/>
                </a:solidFill>
                <a:latin typeface="Helvetica Neue"/>
              </a:rPr>
              <a:t>SALES ENGINEER TRACK  ·  CARD D</a:t>
            </a:r>
          </a:p>
        </p:txBody>
      </p:sp>
      <p:sp>
        <p:nvSpPr>
          <p:cNvPr id="3" name="TextBox 2"/>
          <p:cNvSpPr txBox="1"/>
          <p:nvPr/>
        </p:nvSpPr>
        <p:spPr>
          <a:xfrm>
            <a:off x="640080" y="2423160"/>
            <a:ext cx="10058400" cy="1097280"/>
          </a:xfrm>
          <a:prstGeom prst="rect">
            <a:avLst/>
          </a:prstGeom>
          <a:noFill/>
        </p:spPr>
        <p:txBody>
          <a:bodyPr wrap="square" lIns="0" rIns="0" tIns="0" bIns="0">
            <a:spAutoFit/>
          </a:bodyPr>
          <a:lstStyle/>
          <a:p>
            <a:pPr algn="l">
              <a:lnSpc>
                <a:spcPct val="115000"/>
              </a:lnSpc>
            </a:pPr>
            <a:r>
              <a:rPr sz="6600" b="1">
                <a:solidFill>
                  <a:srgbClr val="1A1A1A"/>
                </a:solidFill>
                <a:latin typeface="Helvetica Neue"/>
              </a:rPr>
              <a:t>Memoria</a:t>
            </a:r>
          </a:p>
        </p:txBody>
      </p:sp>
      <p:cxnSp>
        <p:nvCxnSpPr>
          <p:cNvPr id="4" name="Connector 3"/>
          <p:cNvCxnSpPr/>
          <p:nvPr/>
        </p:nvCxnSpPr>
        <p:spPr>
          <a:xfrm>
            <a:off x="640080" y="3611880"/>
            <a:ext cx="4572000"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3840480"/>
            <a:ext cx="9144000" cy="1097280"/>
          </a:xfrm>
          <a:prstGeom prst="rect">
            <a:avLst/>
          </a:prstGeom>
          <a:noFill/>
        </p:spPr>
        <p:txBody>
          <a:bodyPr wrap="square" lIns="0" rIns="0" tIns="0" bIns="0">
            <a:spAutoFit/>
          </a:bodyPr>
          <a:lstStyle/>
          <a:p>
            <a:pPr algn="l">
              <a:lnSpc>
                <a:spcPct val="115000"/>
              </a:lnSpc>
            </a:pPr>
            <a:r>
              <a:rPr sz="2200" b="0">
                <a:solidFill>
                  <a:srgbClr val="6B6760"/>
                </a:solidFill>
                <a:latin typeface="Helvetica Neue"/>
              </a:rPr>
              <a:t>A voice-first sales engineer that interviews the rep, researches the deal,</a:t>
            </a:r>
          </a:p>
          <a:p>
            <a:pPr algn="l">
              <a:lnSpc>
                <a:spcPct val="115000"/>
              </a:lnSpc>
            </a:pPr>
            <a:r>
              <a:rPr sz="2200" b="0">
                <a:solidFill>
                  <a:srgbClr val="6B6760"/>
                </a:solidFill>
                <a:latin typeface="Helvetica Neue"/>
              </a:rPr>
              <a:t>builds a verified campaign, and remembers every account.</a:t>
            </a:r>
          </a:p>
        </p:txBody>
      </p:sp>
      <p:sp>
        <p:nvSpPr>
          <p:cNvPr id="6" name="TextBox 5"/>
          <p:cNvSpPr txBox="1"/>
          <p:nvPr/>
        </p:nvSpPr>
        <p:spPr>
          <a:xfrm>
            <a:off x="640080" y="5943600"/>
            <a:ext cx="10058400" cy="365760"/>
          </a:xfrm>
          <a:prstGeom prst="rect">
            <a:avLst/>
          </a:prstGeom>
          <a:noFill/>
        </p:spPr>
        <p:txBody>
          <a:bodyPr wrap="square" lIns="0" rIns="0" tIns="0" bIns="0">
            <a:spAutoFit/>
          </a:bodyPr>
          <a:lstStyle/>
          <a:p>
            <a:pPr algn="l">
              <a:lnSpc>
                <a:spcPct val="115000"/>
              </a:lnSpc>
            </a:pPr>
            <a:r>
              <a:rPr sz="1200" b="0">
                <a:solidFill>
                  <a:srgbClr val="6B6760"/>
                </a:solidFill>
                <a:latin typeface="Helvetica Neue"/>
              </a:rPr>
              <a:t>Any company  ·  any product  ·  github.ibm.com/hazem-awadalla/memoria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pPr algn="l">
              <a:lnSpc>
                <a:spcPct val="115000"/>
              </a:lnSpc>
            </a:pPr>
            <a:r>
              <a:rPr sz="1100" b="1">
                <a:solidFill>
                  <a:srgbClr val="0F5C5C"/>
                </a:solidFill>
                <a:latin typeface="Helvetica Neue"/>
              </a:rPr>
              <a:t>THE PROBLEM</a:t>
            </a:r>
          </a:p>
        </p:txBody>
      </p:sp>
      <p:sp>
        <p:nvSpPr>
          <p:cNvPr id="3" name="TextBox 2"/>
          <p:cNvSpPr txBox="1"/>
          <p:nvPr/>
        </p:nvSpPr>
        <p:spPr>
          <a:xfrm>
            <a:off x="640080" y="685800"/>
            <a:ext cx="10881360" cy="822960"/>
          </a:xfrm>
          <a:prstGeom prst="rect">
            <a:avLst/>
          </a:prstGeom>
          <a:noFill/>
        </p:spPr>
        <p:txBody>
          <a:bodyPr wrap="square" lIns="0" rIns="0" tIns="0" bIns="0">
            <a:spAutoFit/>
          </a:bodyPr>
          <a:lstStyle/>
          <a:p>
            <a:pPr algn="l">
              <a:lnSpc>
                <a:spcPct val="115000"/>
              </a:lnSpc>
            </a:pPr>
            <a:r>
              <a:rPr sz="3000" b="1">
                <a:solidFill>
                  <a:srgbClr val="1A1A1A"/>
                </a:solidFill>
                <a:latin typeface="Helvetica Neue"/>
              </a:rPr>
              <a:t>Final-pitch prep is scattered, and AI tools forget</a:t>
            </a:r>
          </a:p>
        </p:txBody>
      </p:sp>
      <p:cxnSp>
        <p:nvCxnSpPr>
          <p:cNvPr id="4" name="Connector 3"/>
          <p:cNvCxnSpPr/>
          <p:nvPr/>
        </p:nvCxnSpPr>
        <p:spPr>
          <a:xfrm>
            <a:off x="640080" y="1417320"/>
            <a:ext cx="10911535"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828800"/>
            <a:ext cx="3474720" cy="2377440"/>
          </a:xfrm>
          <a:prstGeom prst="rect">
            <a:avLst/>
          </a:prstGeom>
          <a:solidFill>
            <a:srgbClr val="FBF9F4"/>
          </a:solidFill>
          <a:ln w="9525">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93392"/>
            <a:ext cx="3108960" cy="365760"/>
          </a:xfrm>
          <a:prstGeom prst="rect">
            <a:avLst/>
          </a:prstGeom>
          <a:noFill/>
        </p:spPr>
        <p:txBody>
          <a:bodyPr wrap="square" lIns="0" rIns="0" tIns="0" bIns="0">
            <a:spAutoFit/>
          </a:bodyPr>
          <a:lstStyle/>
          <a:p>
            <a:pPr algn="l">
              <a:lnSpc>
                <a:spcPct val="115000"/>
              </a:lnSpc>
            </a:pPr>
            <a:r>
              <a:rPr sz="1500" b="1">
                <a:solidFill>
                  <a:srgbClr val="1A1A1A"/>
                </a:solidFill>
                <a:latin typeface="Helvetica Neue"/>
              </a:rPr>
              <a:t>Context lives in the rep's head</a:t>
            </a:r>
          </a:p>
        </p:txBody>
      </p:sp>
      <p:sp>
        <p:nvSpPr>
          <p:cNvPr id="7" name="TextBox 6"/>
          <p:cNvSpPr txBox="1"/>
          <p:nvPr/>
        </p:nvSpPr>
        <p:spPr>
          <a:xfrm>
            <a:off x="822960" y="2395728"/>
            <a:ext cx="3108960" cy="16916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Stack, stakeholders, objections and competitive moves sit in call notes and memory, not in one place.</a:t>
            </a:r>
          </a:p>
        </p:txBody>
      </p:sp>
      <p:sp>
        <p:nvSpPr>
          <p:cNvPr id="8" name="Rectangle 7"/>
          <p:cNvSpPr/>
          <p:nvPr/>
        </p:nvSpPr>
        <p:spPr>
          <a:xfrm>
            <a:off x="4343400" y="1828800"/>
            <a:ext cx="3474720" cy="2377440"/>
          </a:xfrm>
          <a:prstGeom prst="rect">
            <a:avLst/>
          </a:prstGeom>
          <a:solidFill>
            <a:srgbClr val="FBF9F4"/>
          </a:solidFill>
          <a:ln w="9525">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993392"/>
            <a:ext cx="3108960" cy="365760"/>
          </a:xfrm>
          <a:prstGeom prst="rect">
            <a:avLst/>
          </a:prstGeom>
          <a:noFill/>
        </p:spPr>
        <p:txBody>
          <a:bodyPr wrap="square" lIns="0" rIns="0" tIns="0" bIns="0">
            <a:spAutoFit/>
          </a:bodyPr>
          <a:lstStyle/>
          <a:p>
            <a:pPr algn="l">
              <a:lnSpc>
                <a:spcPct val="115000"/>
              </a:lnSpc>
            </a:pPr>
            <a:r>
              <a:rPr sz="1500" b="1">
                <a:solidFill>
                  <a:srgbClr val="1A1A1A"/>
                </a:solidFill>
                <a:latin typeface="Helvetica Neue"/>
              </a:rPr>
              <a:t>Generic AI invents specifics</a:t>
            </a:r>
          </a:p>
        </p:txBody>
      </p:sp>
      <p:sp>
        <p:nvSpPr>
          <p:cNvPr id="10" name="TextBox 9"/>
          <p:cNvSpPr txBox="1"/>
          <p:nvPr/>
        </p:nvSpPr>
        <p:spPr>
          <a:xfrm>
            <a:off x="4526280" y="2395728"/>
            <a:ext cx="3108960" cy="16916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Plausible statistics, customer names and benchmarks with no source. One wrong number costs the deal's credibility.</a:t>
            </a:r>
          </a:p>
        </p:txBody>
      </p:sp>
      <p:sp>
        <p:nvSpPr>
          <p:cNvPr id="11" name="Rectangle 10"/>
          <p:cNvSpPr/>
          <p:nvPr/>
        </p:nvSpPr>
        <p:spPr>
          <a:xfrm>
            <a:off x="8046720" y="1828800"/>
            <a:ext cx="3474720" cy="2377440"/>
          </a:xfrm>
          <a:prstGeom prst="rect">
            <a:avLst/>
          </a:prstGeom>
          <a:solidFill>
            <a:srgbClr val="FBF9F4"/>
          </a:solidFill>
          <a:ln w="9525">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993392"/>
            <a:ext cx="3108960" cy="365760"/>
          </a:xfrm>
          <a:prstGeom prst="rect">
            <a:avLst/>
          </a:prstGeom>
          <a:noFill/>
        </p:spPr>
        <p:txBody>
          <a:bodyPr wrap="square" lIns="0" rIns="0" tIns="0" bIns="0">
            <a:spAutoFit/>
          </a:bodyPr>
          <a:lstStyle/>
          <a:p>
            <a:pPr algn="l">
              <a:lnSpc>
                <a:spcPct val="115000"/>
              </a:lnSpc>
            </a:pPr>
            <a:r>
              <a:rPr sz="1500" b="1">
                <a:solidFill>
                  <a:srgbClr val="1A1A1A"/>
                </a:solidFill>
                <a:latin typeface="Helvetica Neue"/>
              </a:rPr>
              <a:t>Every session starts from zero</a:t>
            </a:r>
          </a:p>
        </p:txBody>
      </p:sp>
      <p:sp>
        <p:nvSpPr>
          <p:cNvPr id="13" name="TextBox 12"/>
          <p:cNvSpPr txBox="1"/>
          <p:nvPr/>
        </p:nvSpPr>
        <p:spPr>
          <a:xfrm>
            <a:off x="8229600" y="2395728"/>
            <a:ext cx="3108960" cy="16916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The objection raised on Tuesday's call is gone by Thursday's prep. The pitch order never adapts.</a:t>
            </a:r>
          </a:p>
        </p:txBody>
      </p:sp>
      <p:sp>
        <p:nvSpPr>
          <p:cNvPr id="14" name="TextBox 13"/>
          <p:cNvSpPr txBox="1"/>
          <p:nvPr/>
        </p:nvSpPr>
        <p:spPr>
          <a:xfrm>
            <a:off x="640080" y="4663440"/>
            <a:ext cx="10881360" cy="914400"/>
          </a:xfrm>
          <a:prstGeom prst="rect">
            <a:avLst/>
          </a:prstGeom>
          <a:noFill/>
        </p:spPr>
        <p:txBody>
          <a:bodyPr wrap="square" lIns="0" rIns="0" tIns="0" bIns="0">
            <a:spAutoFit/>
          </a:bodyPr>
          <a:lstStyle/>
          <a:p>
            <a:pPr algn="l">
              <a:lnSpc>
                <a:spcPct val="115000"/>
              </a:lnSpc>
            </a:pPr>
            <a:r>
              <a:rPr sz="1800" b="0">
                <a:solidFill>
                  <a:srgbClr val="1A1A1A"/>
                </a:solidFill>
                <a:latin typeface="Helvetica Neue"/>
              </a:rPr>
              <a:t>Card D test question, asked every session:  “Tomorrow’s call is the final pitch. What’s our strategy?”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pPr algn="l">
              <a:lnSpc>
                <a:spcPct val="115000"/>
              </a:lnSpc>
            </a:pPr>
            <a:r>
              <a:rPr sz="1100" b="1">
                <a:solidFill>
                  <a:srgbClr val="0F5C5C"/>
                </a:solidFill>
                <a:latin typeface="Helvetica Neue"/>
              </a:rPr>
              <a:t>WHAT MEMORIA DOES</a:t>
            </a:r>
          </a:p>
        </p:txBody>
      </p:sp>
      <p:sp>
        <p:nvSpPr>
          <p:cNvPr id="3" name="TextBox 2"/>
          <p:cNvSpPr txBox="1"/>
          <p:nvPr/>
        </p:nvSpPr>
        <p:spPr>
          <a:xfrm>
            <a:off x="640080" y="685800"/>
            <a:ext cx="10881360" cy="822960"/>
          </a:xfrm>
          <a:prstGeom prst="rect">
            <a:avLst/>
          </a:prstGeom>
          <a:noFill/>
        </p:spPr>
        <p:txBody>
          <a:bodyPr wrap="square" lIns="0" rIns="0" tIns="0" bIns="0">
            <a:spAutoFit/>
          </a:bodyPr>
          <a:lstStyle/>
          <a:p>
            <a:pPr algn="l">
              <a:lnSpc>
                <a:spcPct val="115000"/>
              </a:lnSpc>
            </a:pPr>
            <a:r>
              <a:rPr sz="3000" b="1">
                <a:solidFill>
                  <a:srgbClr val="1A1A1A"/>
                </a:solidFill>
                <a:latin typeface="Helvetica Neue"/>
              </a:rPr>
              <a:t>Interview, research, personas, campaign, verify, remember</a:t>
            </a:r>
          </a:p>
        </p:txBody>
      </p:sp>
      <p:cxnSp>
        <p:nvCxnSpPr>
          <p:cNvPr id="4" name="Connector 3"/>
          <p:cNvCxnSpPr/>
          <p:nvPr/>
        </p:nvCxnSpPr>
        <p:spPr>
          <a:xfrm>
            <a:off x="640080" y="1417320"/>
            <a:ext cx="10911535"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828800"/>
            <a:ext cx="1719072" cy="274320"/>
          </a:xfrm>
          <a:prstGeom prst="rect">
            <a:avLst/>
          </a:prstGeom>
          <a:noFill/>
        </p:spPr>
        <p:txBody>
          <a:bodyPr wrap="square" lIns="0" rIns="0" tIns="0" bIns="0">
            <a:spAutoFit/>
          </a:bodyPr>
          <a:lstStyle/>
          <a:p>
            <a:pPr algn="l">
              <a:lnSpc>
                <a:spcPct val="115000"/>
              </a:lnSpc>
            </a:pPr>
            <a:r>
              <a:rPr sz="1200" b="1">
                <a:solidFill>
                  <a:srgbClr val="0F5C5C"/>
                </a:solidFill>
                <a:latin typeface="Menlo"/>
              </a:rPr>
              <a:t>01</a:t>
            </a:r>
          </a:p>
        </p:txBody>
      </p:sp>
      <p:cxnSp>
        <p:nvCxnSpPr>
          <p:cNvPr id="6" name="Connector 5"/>
          <p:cNvCxnSpPr/>
          <p:nvPr/>
        </p:nvCxnSpPr>
        <p:spPr>
          <a:xfrm>
            <a:off x="640080" y="2194560"/>
            <a:ext cx="162763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2331720"/>
            <a:ext cx="1719072" cy="365760"/>
          </a:xfrm>
          <a:prstGeom prst="rect">
            <a:avLst/>
          </a:prstGeom>
          <a:noFill/>
        </p:spPr>
        <p:txBody>
          <a:bodyPr wrap="square" lIns="0" rIns="0" tIns="0" bIns="0">
            <a:spAutoFit/>
          </a:bodyPr>
          <a:lstStyle/>
          <a:p>
            <a:pPr algn="l">
              <a:lnSpc>
                <a:spcPct val="115000"/>
              </a:lnSpc>
            </a:pPr>
            <a:r>
              <a:rPr sz="1800" b="1">
                <a:solidFill>
                  <a:srgbClr val="1A1A1A"/>
                </a:solidFill>
                <a:latin typeface="Helvetica Neue"/>
              </a:rPr>
              <a:t>Interview</a:t>
            </a:r>
          </a:p>
        </p:txBody>
      </p:sp>
      <p:sp>
        <p:nvSpPr>
          <p:cNvPr id="8" name="TextBox 7"/>
          <p:cNvSpPr txBox="1"/>
          <p:nvPr/>
        </p:nvSpPr>
        <p:spPr>
          <a:xfrm>
            <a:off x="640080" y="2788920"/>
            <a:ext cx="1627632" cy="14630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Voice discovery,</a:t>
            </a:r>
          </a:p>
          <a:p>
            <a:pPr algn="l">
              <a:lnSpc>
                <a:spcPct val="115000"/>
              </a:lnSpc>
            </a:pPr>
            <a:r>
              <a:rPr sz="1300" b="0">
                <a:solidFill>
                  <a:srgbClr val="6B6760"/>
                </a:solidFill>
                <a:latin typeface="Helvetica Neue"/>
              </a:rPr>
              <a:t>MEDDPICC slots,</a:t>
            </a:r>
          </a:p>
          <a:p>
            <a:pPr algn="l">
              <a:lnSpc>
                <a:spcPct val="115000"/>
              </a:lnSpc>
            </a:pPr>
            <a:r>
              <a:rPr sz="1300" b="0">
                <a:solidFill>
                  <a:srgbClr val="6B6760"/>
                </a:solidFill>
                <a:latin typeface="Helvetica Neue"/>
              </a:rPr>
              <a:t>one question per turn</a:t>
            </a:r>
          </a:p>
        </p:txBody>
      </p:sp>
      <p:sp>
        <p:nvSpPr>
          <p:cNvPr id="9" name="TextBox 8"/>
          <p:cNvSpPr txBox="1"/>
          <p:nvPr/>
        </p:nvSpPr>
        <p:spPr>
          <a:xfrm>
            <a:off x="2468880" y="1828800"/>
            <a:ext cx="1719072" cy="274320"/>
          </a:xfrm>
          <a:prstGeom prst="rect">
            <a:avLst/>
          </a:prstGeom>
          <a:noFill/>
        </p:spPr>
        <p:txBody>
          <a:bodyPr wrap="square" lIns="0" rIns="0" tIns="0" bIns="0">
            <a:spAutoFit/>
          </a:bodyPr>
          <a:lstStyle/>
          <a:p>
            <a:pPr algn="l">
              <a:lnSpc>
                <a:spcPct val="115000"/>
              </a:lnSpc>
            </a:pPr>
            <a:r>
              <a:rPr sz="1200" b="1">
                <a:solidFill>
                  <a:srgbClr val="0F5C5C"/>
                </a:solidFill>
                <a:latin typeface="Menlo"/>
              </a:rPr>
              <a:t>02</a:t>
            </a:r>
          </a:p>
        </p:txBody>
      </p:sp>
      <p:cxnSp>
        <p:nvCxnSpPr>
          <p:cNvPr id="10" name="Connector 9"/>
          <p:cNvCxnSpPr/>
          <p:nvPr/>
        </p:nvCxnSpPr>
        <p:spPr>
          <a:xfrm>
            <a:off x="2468880" y="2194560"/>
            <a:ext cx="162763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68880" y="2331720"/>
            <a:ext cx="1719072" cy="365760"/>
          </a:xfrm>
          <a:prstGeom prst="rect">
            <a:avLst/>
          </a:prstGeom>
          <a:noFill/>
        </p:spPr>
        <p:txBody>
          <a:bodyPr wrap="square" lIns="0" rIns="0" tIns="0" bIns="0">
            <a:spAutoFit/>
          </a:bodyPr>
          <a:lstStyle/>
          <a:p>
            <a:pPr algn="l">
              <a:lnSpc>
                <a:spcPct val="115000"/>
              </a:lnSpc>
            </a:pPr>
            <a:r>
              <a:rPr sz="1800" b="1">
                <a:solidFill>
                  <a:srgbClr val="1A1A1A"/>
                </a:solidFill>
                <a:latin typeface="Helvetica Neue"/>
              </a:rPr>
              <a:t>Research</a:t>
            </a:r>
          </a:p>
        </p:txBody>
      </p:sp>
      <p:sp>
        <p:nvSpPr>
          <p:cNvPr id="12" name="TextBox 11"/>
          <p:cNvSpPr txBox="1"/>
          <p:nvPr/>
        </p:nvSpPr>
        <p:spPr>
          <a:xfrm>
            <a:off x="2468880" y="2788920"/>
            <a:ext cx="1627632" cy="14630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Uploaded docs and</a:t>
            </a:r>
          </a:p>
          <a:p>
            <a:pPr algn="l">
              <a:lnSpc>
                <a:spcPct val="115000"/>
              </a:lnSpc>
            </a:pPr>
            <a:r>
              <a:rPr sz="1300" b="0">
                <a:solidFill>
                  <a:srgbClr val="6B6760"/>
                </a:solidFill>
                <a:latin typeface="Helvetica Neue"/>
              </a:rPr>
              <a:t>web research become</a:t>
            </a:r>
          </a:p>
          <a:p>
            <a:pPr algn="l">
              <a:lnSpc>
                <a:spcPct val="115000"/>
              </a:lnSpc>
            </a:pPr>
            <a:r>
              <a:rPr sz="1300" b="0">
                <a:solidFill>
                  <a:srgbClr val="6B6760"/>
                </a:solidFill>
                <a:latin typeface="Helvetica Neue"/>
              </a:rPr>
              <a:t>a numbered evidence ledger</a:t>
            </a:r>
          </a:p>
        </p:txBody>
      </p:sp>
      <p:sp>
        <p:nvSpPr>
          <p:cNvPr id="13" name="TextBox 12"/>
          <p:cNvSpPr txBox="1"/>
          <p:nvPr/>
        </p:nvSpPr>
        <p:spPr>
          <a:xfrm>
            <a:off x="4297680" y="1828800"/>
            <a:ext cx="1719072" cy="274320"/>
          </a:xfrm>
          <a:prstGeom prst="rect">
            <a:avLst/>
          </a:prstGeom>
          <a:noFill/>
        </p:spPr>
        <p:txBody>
          <a:bodyPr wrap="square" lIns="0" rIns="0" tIns="0" bIns="0">
            <a:spAutoFit/>
          </a:bodyPr>
          <a:lstStyle/>
          <a:p>
            <a:pPr algn="l">
              <a:lnSpc>
                <a:spcPct val="115000"/>
              </a:lnSpc>
            </a:pPr>
            <a:r>
              <a:rPr sz="1200" b="1">
                <a:solidFill>
                  <a:srgbClr val="0F5C5C"/>
                </a:solidFill>
                <a:latin typeface="Menlo"/>
              </a:rPr>
              <a:t>03</a:t>
            </a:r>
          </a:p>
        </p:txBody>
      </p:sp>
      <p:cxnSp>
        <p:nvCxnSpPr>
          <p:cNvPr id="14" name="Connector 13"/>
          <p:cNvCxnSpPr/>
          <p:nvPr/>
        </p:nvCxnSpPr>
        <p:spPr>
          <a:xfrm>
            <a:off x="4297680" y="2194560"/>
            <a:ext cx="162763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297680" y="2331720"/>
            <a:ext cx="1719072" cy="365760"/>
          </a:xfrm>
          <a:prstGeom prst="rect">
            <a:avLst/>
          </a:prstGeom>
          <a:noFill/>
        </p:spPr>
        <p:txBody>
          <a:bodyPr wrap="square" lIns="0" rIns="0" tIns="0" bIns="0">
            <a:spAutoFit/>
          </a:bodyPr>
          <a:lstStyle/>
          <a:p>
            <a:pPr algn="l">
              <a:lnSpc>
                <a:spcPct val="115000"/>
              </a:lnSpc>
            </a:pPr>
            <a:r>
              <a:rPr sz="1800" b="1">
                <a:solidFill>
                  <a:srgbClr val="1A1A1A"/>
                </a:solidFill>
                <a:latin typeface="Helvetica Neue"/>
              </a:rPr>
              <a:t>Personas</a:t>
            </a:r>
          </a:p>
        </p:txBody>
      </p:sp>
      <p:sp>
        <p:nvSpPr>
          <p:cNvPr id="16" name="TextBox 15"/>
          <p:cNvSpPr txBox="1"/>
          <p:nvPr/>
        </p:nvSpPr>
        <p:spPr>
          <a:xfrm>
            <a:off x="4297680" y="2788920"/>
            <a:ext cx="1627632" cy="14630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Buying committee,</a:t>
            </a:r>
          </a:p>
          <a:p>
            <a:pPr algn="l">
              <a:lnSpc>
                <a:spcPct val="115000"/>
              </a:lnSpc>
            </a:pPr>
            <a:r>
              <a:rPr sz="1300" b="0">
                <a:solidFill>
                  <a:srgbClr val="6B6760"/>
                </a:solidFill>
                <a:latin typeface="Helvetica Neue"/>
              </a:rPr>
              <a:t>every statement evidenced</a:t>
            </a:r>
          </a:p>
          <a:p>
            <a:pPr algn="l">
              <a:lnSpc>
                <a:spcPct val="115000"/>
              </a:lnSpc>
            </a:pPr>
            <a:r>
              <a:rPr sz="1300" b="0">
                <a:solidFill>
                  <a:srgbClr val="6B6760"/>
                </a:solidFill>
                <a:latin typeface="Helvetica Neue"/>
              </a:rPr>
              <a:t>or labelled a hypothesis</a:t>
            </a:r>
          </a:p>
        </p:txBody>
      </p:sp>
      <p:sp>
        <p:nvSpPr>
          <p:cNvPr id="17" name="TextBox 16"/>
          <p:cNvSpPr txBox="1"/>
          <p:nvPr/>
        </p:nvSpPr>
        <p:spPr>
          <a:xfrm>
            <a:off x="6126480" y="1828800"/>
            <a:ext cx="1719072" cy="274320"/>
          </a:xfrm>
          <a:prstGeom prst="rect">
            <a:avLst/>
          </a:prstGeom>
          <a:noFill/>
        </p:spPr>
        <p:txBody>
          <a:bodyPr wrap="square" lIns="0" rIns="0" tIns="0" bIns="0">
            <a:spAutoFit/>
          </a:bodyPr>
          <a:lstStyle/>
          <a:p>
            <a:pPr algn="l">
              <a:lnSpc>
                <a:spcPct val="115000"/>
              </a:lnSpc>
            </a:pPr>
            <a:r>
              <a:rPr sz="1200" b="1">
                <a:solidFill>
                  <a:srgbClr val="0F5C5C"/>
                </a:solidFill>
                <a:latin typeface="Menlo"/>
              </a:rPr>
              <a:t>04</a:t>
            </a:r>
          </a:p>
        </p:txBody>
      </p:sp>
      <p:cxnSp>
        <p:nvCxnSpPr>
          <p:cNvPr id="18" name="Connector 17"/>
          <p:cNvCxnSpPr/>
          <p:nvPr/>
        </p:nvCxnSpPr>
        <p:spPr>
          <a:xfrm>
            <a:off x="6126480" y="2194560"/>
            <a:ext cx="162763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26480" y="2331720"/>
            <a:ext cx="1719072" cy="365760"/>
          </a:xfrm>
          <a:prstGeom prst="rect">
            <a:avLst/>
          </a:prstGeom>
          <a:noFill/>
        </p:spPr>
        <p:txBody>
          <a:bodyPr wrap="square" lIns="0" rIns="0" tIns="0" bIns="0">
            <a:spAutoFit/>
          </a:bodyPr>
          <a:lstStyle/>
          <a:p>
            <a:pPr algn="l">
              <a:lnSpc>
                <a:spcPct val="115000"/>
              </a:lnSpc>
            </a:pPr>
            <a:r>
              <a:rPr sz="1800" b="1">
                <a:solidFill>
                  <a:srgbClr val="1A1A1A"/>
                </a:solidFill>
                <a:latin typeface="Helvetica Neue"/>
              </a:rPr>
              <a:t>Campaign</a:t>
            </a:r>
          </a:p>
        </p:txBody>
      </p:sp>
      <p:sp>
        <p:nvSpPr>
          <p:cNvPr id="20" name="TextBox 19"/>
          <p:cNvSpPr txBox="1"/>
          <p:nvPr/>
        </p:nvSpPr>
        <p:spPr>
          <a:xfrm>
            <a:off x="6126480" y="2788920"/>
            <a:ext cx="1627632" cy="14630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Positioning, objection</a:t>
            </a:r>
          </a:p>
          <a:p>
            <a:pPr algn="l">
              <a:lnSpc>
                <a:spcPct val="115000"/>
              </a:lnSpc>
            </a:pPr>
            <a:r>
              <a:rPr sz="1300" b="0">
                <a:solidFill>
                  <a:srgbClr val="6B6760"/>
                </a:solidFill>
                <a:latin typeface="Helvetica Neue"/>
              </a:rPr>
              <a:t>matrix, battle card,</a:t>
            </a:r>
          </a:p>
          <a:p>
            <a:pPr algn="l">
              <a:lnSpc>
                <a:spcPct val="115000"/>
              </a:lnSpc>
            </a:pPr>
            <a:r>
              <a:rPr sz="1300" b="0">
                <a:solidFill>
                  <a:srgbClr val="6B6760"/>
                </a:solidFill>
                <a:latin typeface="Helvetica Neue"/>
              </a:rPr>
              <a:t>pitch order, outreach</a:t>
            </a:r>
          </a:p>
        </p:txBody>
      </p:sp>
      <p:sp>
        <p:nvSpPr>
          <p:cNvPr id="21" name="TextBox 20"/>
          <p:cNvSpPr txBox="1"/>
          <p:nvPr/>
        </p:nvSpPr>
        <p:spPr>
          <a:xfrm>
            <a:off x="7955280" y="1828800"/>
            <a:ext cx="1719072" cy="274320"/>
          </a:xfrm>
          <a:prstGeom prst="rect">
            <a:avLst/>
          </a:prstGeom>
          <a:noFill/>
        </p:spPr>
        <p:txBody>
          <a:bodyPr wrap="square" lIns="0" rIns="0" tIns="0" bIns="0">
            <a:spAutoFit/>
          </a:bodyPr>
          <a:lstStyle/>
          <a:p>
            <a:pPr algn="l">
              <a:lnSpc>
                <a:spcPct val="115000"/>
              </a:lnSpc>
            </a:pPr>
            <a:r>
              <a:rPr sz="1200" b="1">
                <a:solidFill>
                  <a:srgbClr val="0F5C5C"/>
                </a:solidFill>
                <a:latin typeface="Menlo"/>
              </a:rPr>
              <a:t>05</a:t>
            </a:r>
          </a:p>
        </p:txBody>
      </p:sp>
      <p:cxnSp>
        <p:nvCxnSpPr>
          <p:cNvPr id="22" name="Connector 21"/>
          <p:cNvCxnSpPr/>
          <p:nvPr/>
        </p:nvCxnSpPr>
        <p:spPr>
          <a:xfrm>
            <a:off x="7955280" y="2194560"/>
            <a:ext cx="162763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955280" y="2331720"/>
            <a:ext cx="1719072" cy="365760"/>
          </a:xfrm>
          <a:prstGeom prst="rect">
            <a:avLst/>
          </a:prstGeom>
          <a:noFill/>
        </p:spPr>
        <p:txBody>
          <a:bodyPr wrap="square" lIns="0" rIns="0" tIns="0" bIns="0">
            <a:spAutoFit/>
          </a:bodyPr>
          <a:lstStyle/>
          <a:p>
            <a:pPr algn="l">
              <a:lnSpc>
                <a:spcPct val="115000"/>
              </a:lnSpc>
            </a:pPr>
            <a:r>
              <a:rPr sz="1800" b="1">
                <a:solidFill>
                  <a:srgbClr val="1A1A1A"/>
                </a:solidFill>
                <a:latin typeface="Helvetica Neue"/>
              </a:rPr>
              <a:t>Verify</a:t>
            </a:r>
          </a:p>
        </p:txBody>
      </p:sp>
      <p:sp>
        <p:nvSpPr>
          <p:cNvPr id="24" name="TextBox 23"/>
          <p:cNvSpPr txBox="1"/>
          <p:nvPr/>
        </p:nvSpPr>
        <p:spPr>
          <a:xfrm>
            <a:off x="7955280" y="2788920"/>
            <a:ext cx="1627632" cy="14630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Every claim checked</a:t>
            </a:r>
          </a:p>
          <a:p>
            <a:pPr algn="l">
              <a:lnSpc>
                <a:spcPct val="115000"/>
              </a:lnSpc>
            </a:pPr>
            <a:r>
              <a:rPr sz="1300" b="0">
                <a:solidFill>
                  <a:srgbClr val="6B6760"/>
                </a:solidFill>
                <a:latin typeface="Helvetica Neue"/>
              </a:rPr>
              <a:t>against the ledger;</a:t>
            </a:r>
          </a:p>
          <a:p>
            <a:pPr algn="l">
              <a:lnSpc>
                <a:spcPct val="115000"/>
              </a:lnSpc>
            </a:pPr>
            <a:r>
              <a:rPr sz="1300" b="0">
                <a:solidFill>
                  <a:srgbClr val="6B6760"/>
                </a:solidFill>
                <a:latin typeface="Helvetica Neue"/>
              </a:rPr>
              <a:t>one revision, then human review</a:t>
            </a:r>
          </a:p>
        </p:txBody>
      </p:sp>
      <p:sp>
        <p:nvSpPr>
          <p:cNvPr id="25" name="TextBox 24"/>
          <p:cNvSpPr txBox="1"/>
          <p:nvPr/>
        </p:nvSpPr>
        <p:spPr>
          <a:xfrm>
            <a:off x="9784080" y="1828800"/>
            <a:ext cx="1719072" cy="274320"/>
          </a:xfrm>
          <a:prstGeom prst="rect">
            <a:avLst/>
          </a:prstGeom>
          <a:noFill/>
        </p:spPr>
        <p:txBody>
          <a:bodyPr wrap="square" lIns="0" rIns="0" tIns="0" bIns="0">
            <a:spAutoFit/>
          </a:bodyPr>
          <a:lstStyle/>
          <a:p>
            <a:pPr algn="l">
              <a:lnSpc>
                <a:spcPct val="115000"/>
              </a:lnSpc>
            </a:pPr>
            <a:r>
              <a:rPr sz="1200" b="1">
                <a:solidFill>
                  <a:srgbClr val="0F5C5C"/>
                </a:solidFill>
                <a:latin typeface="Menlo"/>
              </a:rPr>
              <a:t>06</a:t>
            </a:r>
          </a:p>
        </p:txBody>
      </p:sp>
      <p:cxnSp>
        <p:nvCxnSpPr>
          <p:cNvPr id="26" name="Connector 25"/>
          <p:cNvCxnSpPr/>
          <p:nvPr/>
        </p:nvCxnSpPr>
        <p:spPr>
          <a:xfrm>
            <a:off x="9784080" y="2194560"/>
            <a:ext cx="1627632"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784080" y="2331720"/>
            <a:ext cx="1719072" cy="365760"/>
          </a:xfrm>
          <a:prstGeom prst="rect">
            <a:avLst/>
          </a:prstGeom>
          <a:noFill/>
        </p:spPr>
        <p:txBody>
          <a:bodyPr wrap="square" lIns="0" rIns="0" tIns="0" bIns="0">
            <a:spAutoFit/>
          </a:bodyPr>
          <a:lstStyle/>
          <a:p>
            <a:pPr algn="l">
              <a:lnSpc>
                <a:spcPct val="115000"/>
              </a:lnSpc>
            </a:pPr>
            <a:r>
              <a:rPr sz="1800" b="1">
                <a:solidFill>
                  <a:srgbClr val="1A1A1A"/>
                </a:solidFill>
                <a:latin typeface="Helvetica Neue"/>
              </a:rPr>
              <a:t>Remember</a:t>
            </a:r>
          </a:p>
        </p:txBody>
      </p:sp>
      <p:sp>
        <p:nvSpPr>
          <p:cNvPr id="28" name="TextBox 27"/>
          <p:cNvSpPr txBox="1"/>
          <p:nvPr/>
        </p:nvSpPr>
        <p:spPr>
          <a:xfrm>
            <a:off x="9784080" y="2788920"/>
            <a:ext cx="1627632" cy="14630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Per-tenant memory store;</a:t>
            </a:r>
          </a:p>
          <a:p>
            <a:pPr algn="l">
              <a:lnSpc>
                <a:spcPct val="115000"/>
              </a:lnSpc>
            </a:pPr>
            <a:r>
              <a:rPr sz="1300" b="0">
                <a:solidFill>
                  <a:srgbClr val="6B6760"/>
                </a:solidFill>
                <a:latin typeface="Helvetica Neue"/>
              </a:rPr>
              <a:t>objections superseded,</a:t>
            </a:r>
          </a:p>
          <a:p>
            <a:pPr algn="l">
              <a:lnSpc>
                <a:spcPct val="115000"/>
              </a:lnSpc>
            </a:pPr>
            <a:r>
              <a:rPr sz="1300" b="0">
                <a:solidFill>
                  <a:srgbClr val="6B6760"/>
                </a:solidFill>
                <a:latin typeface="Helvetica Neue"/>
              </a:rPr>
              <a:t>never deleted</a:t>
            </a:r>
          </a:p>
        </p:txBody>
      </p:sp>
      <p:sp>
        <p:nvSpPr>
          <p:cNvPr id="29" name="TextBox 28"/>
          <p:cNvSpPr txBox="1"/>
          <p:nvPr/>
        </p:nvSpPr>
        <p:spPr>
          <a:xfrm>
            <a:off x="640080" y="4754880"/>
            <a:ext cx="10881360" cy="1097280"/>
          </a:xfrm>
          <a:prstGeom prst="rect">
            <a:avLst/>
          </a:prstGeom>
          <a:noFill/>
        </p:spPr>
        <p:txBody>
          <a:bodyPr wrap="square" lIns="0" rIns="0" tIns="0" bIns="0">
            <a:spAutoFit/>
          </a:bodyPr>
          <a:lstStyle/>
          <a:p>
            <a:pPr algn="l">
              <a:lnSpc>
                <a:spcPct val="115000"/>
              </a:lnSpc>
            </a:pPr>
            <a:r>
              <a:rPr sz="1500" b="0">
                <a:solidFill>
                  <a:srgbClr val="1A1A1A"/>
                </a:solidFill>
                <a:latin typeface="Helvetica Neue"/>
              </a:rPr>
              <a:t>Assets out: slide decks (.pptx), documents and whitepapers (.docx + .pdf), blogs (.md + .html), email sequences (.eml).</a:t>
            </a:r>
          </a:p>
          <a:p>
            <a:pPr algn="l">
              <a:lnSpc>
                <a:spcPct val="115000"/>
              </a:lnSpc>
            </a:pPr>
            <a:r>
              <a:rPr sz="1500" b="0">
                <a:solidFill>
                  <a:srgbClr val="1A1A1A"/>
                </a:solidFill>
                <a:latin typeface="Helvetica Neue"/>
              </a:rPr>
              <a:t>Every fact carries an evidence marker; missing proof becomes a visible placeholder, never an invention.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pPr algn="l">
              <a:lnSpc>
                <a:spcPct val="115000"/>
              </a:lnSpc>
            </a:pPr>
            <a:r>
              <a:rPr sz="1100" b="1">
                <a:solidFill>
                  <a:srgbClr val="0F5C5C"/>
                </a:solidFill>
                <a:latin typeface="Helvetica Neue"/>
              </a:rPr>
              <a:t>LIVE DEMO  ·  THE INTERVIEW</a:t>
            </a:r>
          </a:p>
        </p:txBody>
      </p:sp>
      <p:sp>
        <p:nvSpPr>
          <p:cNvPr id="3" name="TextBox 2"/>
          <p:cNvSpPr txBox="1"/>
          <p:nvPr/>
        </p:nvSpPr>
        <p:spPr>
          <a:xfrm>
            <a:off x="640080" y="685800"/>
            <a:ext cx="10881360" cy="822960"/>
          </a:xfrm>
          <a:prstGeom prst="rect">
            <a:avLst/>
          </a:prstGeom>
          <a:noFill/>
        </p:spPr>
        <p:txBody>
          <a:bodyPr wrap="square" lIns="0" rIns="0" tIns="0" bIns="0">
            <a:spAutoFit/>
          </a:bodyPr>
          <a:lstStyle/>
          <a:p>
            <a:pPr algn="l">
              <a:lnSpc>
                <a:spcPct val="115000"/>
              </a:lnSpc>
            </a:pPr>
            <a:r>
              <a:rPr sz="3000" b="1">
                <a:solidFill>
                  <a:srgbClr val="1A1A1A"/>
                </a:solidFill>
                <a:latin typeface="Helvetica Neue"/>
              </a:rPr>
              <a:t>Memoria interviews the rep by voice</a:t>
            </a:r>
          </a:p>
        </p:txBody>
      </p:sp>
      <p:cxnSp>
        <p:nvCxnSpPr>
          <p:cNvPr id="4" name="Connector 3"/>
          <p:cNvCxnSpPr/>
          <p:nvPr/>
        </p:nvCxnSpPr>
        <p:spPr>
          <a:xfrm>
            <a:off x="640080" y="1417320"/>
            <a:ext cx="10911535"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pic>
        <p:nvPicPr>
          <p:cNvPr id="5" name="Picture 4" descr="interview-mid-conversation-1440.png"/>
          <p:cNvPicPr>
            <a:picLocks noChangeAspect="1"/>
          </p:cNvPicPr>
          <p:nvPr/>
        </p:nvPicPr>
        <p:blipFill>
          <a:blip r:embed="rId3"/>
          <a:srcRect b="10512"/>
          <a:stretch>
            <a:fillRect/>
          </a:stretch>
        </p:blipFill>
        <p:spPr>
          <a:xfrm>
            <a:off x="640080" y="1691640"/>
            <a:ext cx="6949440" cy="4754880"/>
          </a:xfrm>
          <a:prstGeom prst="rect">
            <a:avLst/>
          </a:prstGeom>
          <a:ln w="9525">
            <a:solidFill>
              <a:srgbClr val="D9D3C7"/>
            </a:solidFill>
          </a:ln>
        </p:spPr>
      </p:pic>
      <p:sp>
        <p:nvSpPr>
          <p:cNvPr id="6" name="TextBox 5"/>
          <p:cNvSpPr txBox="1"/>
          <p:nvPr/>
        </p:nvSpPr>
        <p:spPr>
          <a:xfrm>
            <a:off x="7909560" y="1783080"/>
            <a:ext cx="3657600" cy="365760"/>
          </a:xfrm>
          <a:prstGeom prst="rect">
            <a:avLst/>
          </a:prstGeom>
          <a:noFill/>
        </p:spPr>
        <p:txBody>
          <a:bodyPr wrap="square" lIns="0" rIns="0" tIns="0" bIns="0">
            <a:spAutoFit/>
          </a:bodyPr>
          <a:lstStyle/>
          <a:p>
            <a:pPr algn="l">
              <a:lnSpc>
                <a:spcPct val="115000"/>
              </a:lnSpc>
            </a:pPr>
            <a:r>
              <a:rPr sz="1600" b="1">
                <a:solidFill>
                  <a:srgbClr val="1A1A1A"/>
                </a:solidFill>
                <a:latin typeface="Helvetica Neue"/>
              </a:rPr>
              <a:t>Whisper on WebGPU</a:t>
            </a:r>
          </a:p>
        </p:txBody>
      </p:sp>
      <p:sp>
        <p:nvSpPr>
          <p:cNvPr id="7" name="TextBox 6"/>
          <p:cNvSpPr txBox="1"/>
          <p:nvPr/>
        </p:nvSpPr>
        <p:spPr>
          <a:xfrm>
            <a:off x="7909560" y="2148840"/>
            <a:ext cx="3657600" cy="10058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Speech-to-text in the browser. Audio stays on the device.</a:t>
            </a:r>
          </a:p>
        </p:txBody>
      </p:sp>
      <p:sp>
        <p:nvSpPr>
          <p:cNvPr id="8" name="TextBox 7"/>
          <p:cNvSpPr txBox="1"/>
          <p:nvPr/>
        </p:nvSpPr>
        <p:spPr>
          <a:xfrm>
            <a:off x="7909560" y="3291840"/>
            <a:ext cx="3657600" cy="365760"/>
          </a:xfrm>
          <a:prstGeom prst="rect">
            <a:avLst/>
          </a:prstGeom>
          <a:noFill/>
        </p:spPr>
        <p:txBody>
          <a:bodyPr wrap="square" lIns="0" rIns="0" tIns="0" bIns="0">
            <a:spAutoFit/>
          </a:bodyPr>
          <a:lstStyle/>
          <a:p>
            <a:pPr algn="l">
              <a:lnSpc>
                <a:spcPct val="115000"/>
              </a:lnSpc>
            </a:pPr>
            <a:r>
              <a:rPr sz="1600" b="1">
                <a:solidFill>
                  <a:srgbClr val="1A1A1A"/>
                </a:solidFill>
                <a:latin typeface="Helvetica Neue"/>
              </a:rPr>
              <a:t>Kokoro voice</a:t>
            </a:r>
          </a:p>
        </p:txBody>
      </p:sp>
      <p:sp>
        <p:nvSpPr>
          <p:cNvPr id="9" name="TextBox 8"/>
          <p:cNvSpPr txBox="1"/>
          <p:nvPr/>
        </p:nvSpPr>
        <p:spPr>
          <a:xfrm>
            <a:off x="7909560" y="3657600"/>
            <a:ext cx="3657600" cy="10058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Text-to-speech in a Podman container, streamed per sentence. 0.54 s for a first sentence.</a:t>
            </a:r>
          </a:p>
        </p:txBody>
      </p:sp>
      <p:sp>
        <p:nvSpPr>
          <p:cNvPr id="10" name="TextBox 9"/>
          <p:cNvSpPr txBox="1"/>
          <p:nvPr/>
        </p:nvSpPr>
        <p:spPr>
          <a:xfrm>
            <a:off x="7909560" y="4800600"/>
            <a:ext cx="3657600" cy="365760"/>
          </a:xfrm>
          <a:prstGeom prst="rect">
            <a:avLst/>
          </a:prstGeom>
          <a:noFill/>
        </p:spPr>
        <p:txBody>
          <a:bodyPr wrap="square" lIns="0" rIns="0" tIns="0" bIns="0">
            <a:spAutoFit/>
          </a:bodyPr>
          <a:lstStyle/>
          <a:p>
            <a:pPr algn="l">
              <a:lnSpc>
                <a:spcPct val="115000"/>
              </a:lnSpc>
            </a:pPr>
            <a:r>
              <a:rPr sz="1600" b="1">
                <a:solidFill>
                  <a:srgbClr val="1A1A1A"/>
                </a:solidFill>
                <a:latin typeface="Helvetica Neue"/>
              </a:rPr>
              <a:t>One question per turn</a:t>
            </a:r>
          </a:p>
        </p:txBody>
      </p:sp>
      <p:sp>
        <p:nvSpPr>
          <p:cNvPr id="11" name="TextBox 10"/>
          <p:cNvSpPr txBox="1"/>
          <p:nvPr/>
        </p:nvSpPr>
        <p:spPr>
          <a:xfrm>
            <a:off x="7909560" y="5166360"/>
            <a:ext cx="3657600" cy="10058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Priority order: meeting, pain, metrics, decision, buyer, objections, competition.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pPr algn="l">
              <a:lnSpc>
                <a:spcPct val="115000"/>
              </a:lnSpc>
            </a:pPr>
            <a:r>
              <a:rPr sz="1100" b="1">
                <a:solidFill>
                  <a:srgbClr val="0F5C5C"/>
                </a:solidFill>
                <a:latin typeface="Helvetica Neue"/>
              </a:rPr>
              <a:t>LIVE DEMO  ·  DISCOVERY</a:t>
            </a:r>
          </a:p>
        </p:txBody>
      </p:sp>
      <p:sp>
        <p:nvSpPr>
          <p:cNvPr id="3" name="TextBox 2"/>
          <p:cNvSpPr txBox="1"/>
          <p:nvPr/>
        </p:nvSpPr>
        <p:spPr>
          <a:xfrm>
            <a:off x="640080" y="685800"/>
            <a:ext cx="10881360" cy="822960"/>
          </a:xfrm>
          <a:prstGeom prst="rect">
            <a:avLst/>
          </a:prstGeom>
          <a:noFill/>
        </p:spPr>
        <p:txBody>
          <a:bodyPr wrap="square" lIns="0" rIns="0" tIns="0" bIns="0">
            <a:spAutoFit/>
          </a:bodyPr>
          <a:lstStyle/>
          <a:p>
            <a:pPr algn="l">
              <a:lnSpc>
                <a:spcPct val="115000"/>
              </a:lnSpc>
            </a:pPr>
            <a:r>
              <a:rPr sz="3000" b="1">
                <a:solidFill>
                  <a:srgbClr val="1A1A1A"/>
                </a:solidFill>
                <a:latin typeface="Helvetica Neue"/>
              </a:rPr>
              <a:t>Every answer becomes evidence on the slot board</a:t>
            </a:r>
          </a:p>
        </p:txBody>
      </p:sp>
      <p:cxnSp>
        <p:nvCxnSpPr>
          <p:cNvPr id="4" name="Connector 3"/>
          <p:cNvCxnSpPr/>
          <p:nvPr/>
        </p:nvCxnSpPr>
        <p:spPr>
          <a:xfrm>
            <a:off x="640080" y="1417320"/>
            <a:ext cx="10911535"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pic>
        <p:nvPicPr>
          <p:cNvPr id="5" name="Picture 4" descr="slot-board-partial-1440.png"/>
          <p:cNvPicPr>
            <a:picLocks noChangeAspect="1"/>
          </p:cNvPicPr>
          <p:nvPr/>
        </p:nvPicPr>
        <p:blipFill>
          <a:blip r:embed="rId3"/>
          <a:srcRect b="42429"/>
          <a:stretch>
            <a:fillRect/>
          </a:stretch>
        </p:blipFill>
        <p:spPr>
          <a:xfrm>
            <a:off x="640080" y="1691640"/>
            <a:ext cx="10881360" cy="4846320"/>
          </a:xfrm>
          <a:prstGeom prst="rect">
            <a:avLst/>
          </a:prstGeom>
          <a:ln w="9525">
            <a:solidFill>
              <a:srgbClr val="D9D3C7"/>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pPr algn="l">
              <a:lnSpc>
                <a:spcPct val="115000"/>
              </a:lnSpc>
            </a:pPr>
            <a:r>
              <a:rPr sz="1100" b="1">
                <a:solidFill>
                  <a:srgbClr val="0F5C5C"/>
                </a:solidFill>
                <a:latin typeface="Helvetica Neue"/>
              </a:rPr>
              <a:t>ARCHITECTURE</a:t>
            </a:r>
          </a:p>
        </p:txBody>
      </p:sp>
      <p:sp>
        <p:nvSpPr>
          <p:cNvPr id="3" name="TextBox 2"/>
          <p:cNvSpPr txBox="1"/>
          <p:nvPr/>
        </p:nvSpPr>
        <p:spPr>
          <a:xfrm>
            <a:off x="640080" y="685800"/>
            <a:ext cx="10881360" cy="822960"/>
          </a:xfrm>
          <a:prstGeom prst="rect">
            <a:avLst/>
          </a:prstGeom>
          <a:noFill/>
        </p:spPr>
        <p:txBody>
          <a:bodyPr wrap="square" lIns="0" rIns="0" tIns="0" bIns="0">
            <a:spAutoFit/>
          </a:bodyPr>
          <a:lstStyle/>
          <a:p>
            <a:pPr algn="l">
              <a:lnSpc>
                <a:spcPct val="115000"/>
              </a:lnSpc>
            </a:pPr>
            <a:r>
              <a:rPr sz="3000" b="1">
                <a:solidFill>
                  <a:srgbClr val="1A1A1A"/>
                </a:solidFill>
                <a:latin typeface="Helvetica Neue"/>
              </a:rPr>
              <a:t>Three zones: browser, Podman, Anthropic</a:t>
            </a:r>
          </a:p>
        </p:txBody>
      </p:sp>
      <p:cxnSp>
        <p:nvCxnSpPr>
          <p:cNvPr id="4" name="Connector 3"/>
          <p:cNvCxnSpPr/>
          <p:nvPr/>
        </p:nvCxnSpPr>
        <p:spPr>
          <a:xfrm>
            <a:off x="640080" y="1417320"/>
            <a:ext cx="10911535"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3383280" cy="365760"/>
          </a:xfrm>
          <a:prstGeom prst="rect">
            <a:avLst/>
          </a:prstGeom>
          <a:noFill/>
        </p:spPr>
        <p:txBody>
          <a:bodyPr wrap="square" lIns="0" rIns="0" tIns="0" bIns="0">
            <a:spAutoFit/>
          </a:bodyPr>
          <a:lstStyle/>
          <a:p>
            <a:pPr algn="l">
              <a:lnSpc>
                <a:spcPct val="115000"/>
              </a:lnSpc>
            </a:pPr>
            <a:r>
              <a:rPr sz="1200" b="1">
                <a:solidFill>
                  <a:srgbClr val="0F5C5C"/>
                </a:solidFill>
                <a:latin typeface="Helvetica Neue"/>
              </a:rPr>
              <a:t>BROWSER</a:t>
            </a:r>
          </a:p>
        </p:txBody>
      </p:sp>
      <p:sp>
        <p:nvSpPr>
          <p:cNvPr id="6" name="Rectangle 5"/>
          <p:cNvSpPr/>
          <p:nvPr/>
        </p:nvSpPr>
        <p:spPr>
          <a:xfrm>
            <a:off x="640080" y="2194560"/>
            <a:ext cx="3383280" cy="731520"/>
          </a:xfrm>
          <a:prstGeom prst="rect">
            <a:avLst/>
          </a:prstGeom>
          <a:solidFill>
            <a:srgbClr val="FBF9F4"/>
          </a:solidFill>
          <a:ln>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14016"/>
            <a:ext cx="3017520" cy="365760"/>
          </a:xfrm>
          <a:prstGeom prst="rect">
            <a:avLst/>
          </a:prstGeom>
          <a:noFill/>
        </p:spPr>
        <p:txBody>
          <a:bodyPr wrap="square" lIns="0" rIns="0" tIns="0" bIns="0">
            <a:spAutoFit/>
          </a:bodyPr>
          <a:lstStyle/>
          <a:p>
            <a:pPr algn="l">
              <a:lnSpc>
                <a:spcPct val="115000"/>
              </a:lnSpc>
            </a:pPr>
            <a:r>
              <a:rPr sz="1400" b="0">
                <a:solidFill>
                  <a:srgbClr val="1A1A1A"/>
                </a:solidFill>
                <a:latin typeface="Helvetica Neue"/>
              </a:rPr>
              <a:t>Next.js UI</a:t>
            </a:r>
          </a:p>
        </p:txBody>
      </p:sp>
      <p:sp>
        <p:nvSpPr>
          <p:cNvPr id="8" name="Rectangle 7"/>
          <p:cNvSpPr/>
          <p:nvPr/>
        </p:nvSpPr>
        <p:spPr>
          <a:xfrm>
            <a:off x="640080" y="3154680"/>
            <a:ext cx="3383280" cy="731520"/>
          </a:xfrm>
          <a:prstGeom prst="rect">
            <a:avLst/>
          </a:prstGeom>
          <a:solidFill>
            <a:srgbClr val="FBF9F4"/>
          </a:solidFill>
          <a:ln>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374136"/>
            <a:ext cx="3017520" cy="365760"/>
          </a:xfrm>
          <a:prstGeom prst="rect">
            <a:avLst/>
          </a:prstGeom>
          <a:noFill/>
        </p:spPr>
        <p:txBody>
          <a:bodyPr wrap="square" lIns="0" rIns="0" tIns="0" bIns="0">
            <a:spAutoFit/>
          </a:bodyPr>
          <a:lstStyle/>
          <a:p>
            <a:pPr algn="l">
              <a:lnSpc>
                <a:spcPct val="115000"/>
              </a:lnSpc>
            </a:pPr>
            <a:r>
              <a:rPr sz="1400" b="0">
                <a:solidFill>
                  <a:srgbClr val="1A1A1A"/>
                </a:solidFill>
                <a:latin typeface="Helvetica Neue"/>
              </a:rPr>
              <a:t>Whisper on WebGPU</a:t>
            </a:r>
          </a:p>
        </p:txBody>
      </p:sp>
      <p:sp>
        <p:nvSpPr>
          <p:cNvPr id="10" name="Rectangle 9"/>
          <p:cNvSpPr/>
          <p:nvPr/>
        </p:nvSpPr>
        <p:spPr>
          <a:xfrm>
            <a:off x="640080" y="4114800"/>
            <a:ext cx="3383280" cy="731520"/>
          </a:xfrm>
          <a:prstGeom prst="rect">
            <a:avLst/>
          </a:prstGeom>
          <a:solidFill>
            <a:srgbClr val="FBF9F4"/>
          </a:solidFill>
          <a:ln>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334256"/>
            <a:ext cx="3017520" cy="365760"/>
          </a:xfrm>
          <a:prstGeom prst="rect">
            <a:avLst/>
          </a:prstGeom>
          <a:noFill/>
        </p:spPr>
        <p:txBody>
          <a:bodyPr wrap="square" lIns="0" rIns="0" tIns="0" bIns="0">
            <a:spAutoFit/>
          </a:bodyPr>
          <a:lstStyle/>
          <a:p>
            <a:pPr algn="l">
              <a:lnSpc>
                <a:spcPct val="115000"/>
              </a:lnSpc>
            </a:pPr>
            <a:r>
              <a:rPr sz="1400" b="0">
                <a:solidFill>
                  <a:srgbClr val="1A1A1A"/>
                </a:solidFill>
                <a:latin typeface="Helvetica Neue"/>
              </a:rPr>
              <a:t>Audio playback queue</a:t>
            </a:r>
          </a:p>
        </p:txBody>
      </p:sp>
      <p:cxnSp>
        <p:nvCxnSpPr>
          <p:cNvPr id="12" name="Connector 11"/>
          <p:cNvCxnSpPr/>
          <p:nvPr/>
        </p:nvCxnSpPr>
        <p:spPr>
          <a:xfrm>
            <a:off x="4069080" y="3520440"/>
            <a:ext cx="274320" cy="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389120" y="1783080"/>
            <a:ext cx="3383280" cy="365760"/>
          </a:xfrm>
          <a:prstGeom prst="rect">
            <a:avLst/>
          </a:prstGeom>
          <a:noFill/>
        </p:spPr>
        <p:txBody>
          <a:bodyPr wrap="square" lIns="0" rIns="0" tIns="0" bIns="0">
            <a:spAutoFit/>
          </a:bodyPr>
          <a:lstStyle/>
          <a:p>
            <a:pPr algn="l">
              <a:lnSpc>
                <a:spcPct val="115000"/>
              </a:lnSpc>
            </a:pPr>
            <a:r>
              <a:rPr sz="1200" b="1">
                <a:solidFill>
                  <a:srgbClr val="0F5C5C"/>
                </a:solidFill>
                <a:latin typeface="Helvetica Neue"/>
              </a:rPr>
              <a:t>PODMAN</a:t>
            </a:r>
          </a:p>
        </p:txBody>
      </p:sp>
      <p:sp>
        <p:nvSpPr>
          <p:cNvPr id="14" name="Rectangle 13"/>
          <p:cNvSpPr/>
          <p:nvPr/>
        </p:nvSpPr>
        <p:spPr>
          <a:xfrm>
            <a:off x="4389120" y="2194560"/>
            <a:ext cx="3383280" cy="731520"/>
          </a:xfrm>
          <a:prstGeom prst="rect">
            <a:avLst/>
          </a:prstGeom>
          <a:solidFill>
            <a:srgbClr val="FBF9F4"/>
          </a:solidFill>
          <a:ln>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414016"/>
            <a:ext cx="3017520" cy="365760"/>
          </a:xfrm>
          <a:prstGeom prst="rect">
            <a:avLst/>
          </a:prstGeom>
          <a:noFill/>
        </p:spPr>
        <p:txBody>
          <a:bodyPr wrap="square" lIns="0" rIns="0" tIns="0" bIns="0">
            <a:spAutoFit/>
          </a:bodyPr>
          <a:lstStyle/>
          <a:p>
            <a:pPr algn="l">
              <a:lnSpc>
                <a:spcPct val="115000"/>
              </a:lnSpc>
            </a:pPr>
            <a:r>
              <a:rPr sz="1400" b="0">
                <a:solidFill>
                  <a:srgbClr val="1A1A1A"/>
                </a:solidFill>
                <a:latin typeface="Menlo"/>
              </a:rPr>
              <a:t>web  ·  Next.js :3000</a:t>
            </a:r>
          </a:p>
        </p:txBody>
      </p:sp>
      <p:sp>
        <p:nvSpPr>
          <p:cNvPr id="16" name="Rectangle 15"/>
          <p:cNvSpPr/>
          <p:nvPr/>
        </p:nvSpPr>
        <p:spPr>
          <a:xfrm>
            <a:off x="4389120" y="3154680"/>
            <a:ext cx="3383280" cy="731520"/>
          </a:xfrm>
          <a:prstGeom prst="rect">
            <a:avLst/>
          </a:prstGeom>
          <a:solidFill>
            <a:srgbClr val="FBF9F4"/>
          </a:solidFill>
          <a:ln>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3374136"/>
            <a:ext cx="3017520" cy="365760"/>
          </a:xfrm>
          <a:prstGeom prst="rect">
            <a:avLst/>
          </a:prstGeom>
          <a:noFill/>
        </p:spPr>
        <p:txBody>
          <a:bodyPr wrap="square" lIns="0" rIns="0" tIns="0" bIns="0">
            <a:spAutoFit/>
          </a:bodyPr>
          <a:lstStyle/>
          <a:p>
            <a:pPr algn="l">
              <a:lnSpc>
                <a:spcPct val="115000"/>
              </a:lnSpc>
            </a:pPr>
            <a:r>
              <a:rPr sz="1400" b="0">
                <a:solidFill>
                  <a:srgbClr val="1A1A1A"/>
                </a:solidFill>
                <a:latin typeface="Menlo"/>
              </a:rPr>
              <a:t>api  ·  FastAPI :8000</a:t>
            </a:r>
          </a:p>
        </p:txBody>
      </p:sp>
      <p:sp>
        <p:nvSpPr>
          <p:cNvPr id="18" name="Rectangle 17"/>
          <p:cNvSpPr/>
          <p:nvPr/>
        </p:nvSpPr>
        <p:spPr>
          <a:xfrm>
            <a:off x="4389120" y="4114800"/>
            <a:ext cx="3383280" cy="731520"/>
          </a:xfrm>
          <a:prstGeom prst="rect">
            <a:avLst/>
          </a:prstGeom>
          <a:solidFill>
            <a:srgbClr val="FBF9F4"/>
          </a:solidFill>
          <a:ln>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334256"/>
            <a:ext cx="3017520" cy="365760"/>
          </a:xfrm>
          <a:prstGeom prst="rect">
            <a:avLst/>
          </a:prstGeom>
          <a:noFill/>
        </p:spPr>
        <p:txBody>
          <a:bodyPr wrap="square" lIns="0" rIns="0" tIns="0" bIns="0">
            <a:spAutoFit/>
          </a:bodyPr>
          <a:lstStyle/>
          <a:p>
            <a:pPr algn="l">
              <a:lnSpc>
                <a:spcPct val="115000"/>
              </a:lnSpc>
            </a:pPr>
            <a:r>
              <a:rPr sz="1400" b="0">
                <a:solidFill>
                  <a:srgbClr val="1A1A1A"/>
                </a:solidFill>
                <a:latin typeface="Menlo"/>
              </a:rPr>
              <a:t>tts  ·  Kokoro :8880</a:t>
            </a:r>
          </a:p>
        </p:txBody>
      </p:sp>
      <p:cxnSp>
        <p:nvCxnSpPr>
          <p:cNvPr id="20" name="Connector 19"/>
          <p:cNvCxnSpPr/>
          <p:nvPr/>
        </p:nvCxnSpPr>
        <p:spPr>
          <a:xfrm>
            <a:off x="7818120" y="3520440"/>
            <a:ext cx="274320" cy="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138160" y="1783080"/>
            <a:ext cx="3383280" cy="365760"/>
          </a:xfrm>
          <a:prstGeom prst="rect">
            <a:avLst/>
          </a:prstGeom>
          <a:noFill/>
        </p:spPr>
        <p:txBody>
          <a:bodyPr wrap="square" lIns="0" rIns="0" tIns="0" bIns="0">
            <a:spAutoFit/>
          </a:bodyPr>
          <a:lstStyle/>
          <a:p>
            <a:pPr algn="l">
              <a:lnSpc>
                <a:spcPct val="115000"/>
              </a:lnSpc>
            </a:pPr>
            <a:r>
              <a:rPr sz="1200" b="1">
                <a:solidFill>
                  <a:srgbClr val="0F5C5C"/>
                </a:solidFill>
                <a:latin typeface="Helvetica Neue"/>
              </a:rPr>
              <a:t>ANTHROPIC</a:t>
            </a:r>
          </a:p>
        </p:txBody>
      </p:sp>
      <p:sp>
        <p:nvSpPr>
          <p:cNvPr id="22" name="Rectangle 21"/>
          <p:cNvSpPr/>
          <p:nvPr/>
        </p:nvSpPr>
        <p:spPr>
          <a:xfrm>
            <a:off x="8138160" y="2194560"/>
            <a:ext cx="3383280" cy="731520"/>
          </a:xfrm>
          <a:prstGeom prst="rect">
            <a:avLst/>
          </a:prstGeom>
          <a:solidFill>
            <a:srgbClr val="FBF9F4"/>
          </a:solidFill>
          <a:ln>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2414016"/>
            <a:ext cx="3017520" cy="365760"/>
          </a:xfrm>
          <a:prstGeom prst="rect">
            <a:avLst/>
          </a:prstGeom>
          <a:noFill/>
        </p:spPr>
        <p:txBody>
          <a:bodyPr wrap="square" lIns="0" rIns="0" tIns="0" bIns="0">
            <a:spAutoFit/>
          </a:bodyPr>
          <a:lstStyle/>
          <a:p>
            <a:pPr algn="l">
              <a:lnSpc>
                <a:spcPct val="115000"/>
              </a:lnSpc>
            </a:pPr>
            <a:r>
              <a:rPr sz="1400" b="0">
                <a:solidFill>
                  <a:srgbClr val="1A1A1A"/>
                </a:solidFill>
                <a:latin typeface="Helvetica Neue"/>
              </a:rPr>
              <a:t>Messages API  ·  claude-sonnet-5-5</a:t>
            </a:r>
          </a:p>
        </p:txBody>
      </p:sp>
      <p:sp>
        <p:nvSpPr>
          <p:cNvPr id="24" name="Rectangle 23"/>
          <p:cNvSpPr/>
          <p:nvPr/>
        </p:nvSpPr>
        <p:spPr>
          <a:xfrm>
            <a:off x="8138160" y="3154680"/>
            <a:ext cx="3383280" cy="731520"/>
          </a:xfrm>
          <a:prstGeom prst="rect">
            <a:avLst/>
          </a:prstGeom>
          <a:solidFill>
            <a:srgbClr val="FBF9F4"/>
          </a:solidFill>
          <a:ln>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3374136"/>
            <a:ext cx="3017520" cy="365760"/>
          </a:xfrm>
          <a:prstGeom prst="rect">
            <a:avLst/>
          </a:prstGeom>
          <a:noFill/>
        </p:spPr>
        <p:txBody>
          <a:bodyPr wrap="square" lIns="0" rIns="0" tIns="0" bIns="0">
            <a:spAutoFit/>
          </a:bodyPr>
          <a:lstStyle/>
          <a:p>
            <a:pPr algn="l">
              <a:lnSpc>
                <a:spcPct val="115000"/>
              </a:lnSpc>
            </a:pPr>
            <a:r>
              <a:rPr sz="1400" b="0">
                <a:solidFill>
                  <a:srgbClr val="1A1A1A"/>
                </a:solidFill>
                <a:latin typeface="Menlo"/>
              </a:rPr>
              <a:t>web_search / web_fetch</a:t>
            </a:r>
          </a:p>
        </p:txBody>
      </p:sp>
      <p:sp>
        <p:nvSpPr>
          <p:cNvPr id="26" name="Rectangle 25"/>
          <p:cNvSpPr/>
          <p:nvPr/>
        </p:nvSpPr>
        <p:spPr>
          <a:xfrm>
            <a:off x="8138160" y="4114800"/>
            <a:ext cx="3383280" cy="731520"/>
          </a:xfrm>
          <a:prstGeom prst="rect">
            <a:avLst/>
          </a:prstGeom>
          <a:solidFill>
            <a:srgbClr val="FBF9F4"/>
          </a:solidFill>
          <a:ln>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4334256"/>
            <a:ext cx="3017520" cy="365760"/>
          </a:xfrm>
          <a:prstGeom prst="rect">
            <a:avLst/>
          </a:prstGeom>
          <a:noFill/>
        </p:spPr>
        <p:txBody>
          <a:bodyPr wrap="square" lIns="0" rIns="0" tIns="0" bIns="0">
            <a:spAutoFit/>
          </a:bodyPr>
          <a:lstStyle/>
          <a:p>
            <a:pPr algn="l">
              <a:lnSpc>
                <a:spcPct val="115000"/>
              </a:lnSpc>
            </a:pPr>
            <a:r>
              <a:rPr sz="1400" b="0">
                <a:solidFill>
                  <a:srgbClr val="1A1A1A"/>
                </a:solidFill>
                <a:latin typeface="Helvetica Neue"/>
              </a:rPr>
              <a:t>Managed Agents + memory stores</a:t>
            </a:r>
          </a:p>
        </p:txBody>
      </p:sp>
      <p:sp>
        <p:nvSpPr>
          <p:cNvPr id="28" name="TextBox 27"/>
          <p:cNvSpPr txBox="1"/>
          <p:nvPr/>
        </p:nvSpPr>
        <p:spPr>
          <a:xfrm>
            <a:off x="640080" y="5349240"/>
            <a:ext cx="10881360" cy="914400"/>
          </a:xfrm>
          <a:prstGeom prst="rect">
            <a:avLst/>
          </a:prstGeom>
          <a:noFill/>
        </p:spPr>
        <p:txBody>
          <a:bodyPr wrap="square" lIns="0" rIns="0" tIns="0" bIns="0">
            <a:spAutoFit/>
          </a:bodyPr>
          <a:lstStyle/>
          <a:p>
            <a:pPr algn="l">
              <a:lnSpc>
                <a:spcPct val="115000"/>
              </a:lnSpc>
            </a:pPr>
            <a:r>
              <a:rPr sz="1400" b="0">
                <a:solidFill>
                  <a:srgbClr val="6B6760"/>
                </a:solidFill>
                <a:latin typeface="Helvetica Neue"/>
              </a:rPr>
              <a:t>Two lanes: the interview is interactive and streamed; the campaign build runs in the background.</a:t>
            </a:r>
          </a:p>
          <a:p>
            <a:pPr algn="l">
              <a:lnSpc>
                <a:spcPct val="115000"/>
              </a:lnSpc>
            </a:pPr>
            <a:r>
              <a:rPr sz="1400" b="0">
                <a:solidFill>
                  <a:srgbClr val="6B6760"/>
                </a:solidFill>
                <a:latin typeface="Helvetica Neue"/>
              </a:rPr>
              <a:t>The model writes structured JSON; FastAPI renders the files deterministically, so every claim is checked before rendering.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pPr algn="l">
              <a:lnSpc>
                <a:spcPct val="115000"/>
              </a:lnSpc>
            </a:pPr>
            <a:r>
              <a:rPr sz="1100" b="1">
                <a:solidFill>
                  <a:srgbClr val="0F5C5C"/>
                </a:solidFill>
                <a:latin typeface="Helvetica Neue"/>
              </a:rPr>
              <a:t>TRUST</a:t>
            </a:r>
          </a:p>
        </p:txBody>
      </p:sp>
      <p:sp>
        <p:nvSpPr>
          <p:cNvPr id="3" name="TextBox 2"/>
          <p:cNvSpPr txBox="1"/>
          <p:nvPr/>
        </p:nvSpPr>
        <p:spPr>
          <a:xfrm>
            <a:off x="640080" y="685800"/>
            <a:ext cx="10881360" cy="822960"/>
          </a:xfrm>
          <a:prstGeom prst="rect">
            <a:avLst/>
          </a:prstGeom>
          <a:noFill/>
        </p:spPr>
        <p:txBody>
          <a:bodyPr wrap="square" lIns="0" rIns="0" tIns="0" bIns="0">
            <a:spAutoFit/>
          </a:bodyPr>
          <a:lstStyle/>
          <a:p>
            <a:pPr algn="l">
              <a:lnSpc>
                <a:spcPct val="115000"/>
              </a:lnSpc>
            </a:pPr>
            <a:r>
              <a:rPr sz="3000" b="1">
                <a:solidFill>
                  <a:srgbClr val="1A1A1A"/>
                </a:solidFill>
                <a:latin typeface="Helvetica Neue"/>
              </a:rPr>
              <a:t>Evidence or nothing</a:t>
            </a:r>
          </a:p>
        </p:txBody>
      </p:sp>
      <p:cxnSp>
        <p:nvCxnSpPr>
          <p:cNvPr id="4" name="Connector 3"/>
          <p:cNvCxnSpPr/>
          <p:nvPr/>
        </p:nvCxnSpPr>
        <p:spPr>
          <a:xfrm>
            <a:off x="640080" y="1417320"/>
            <a:ext cx="10911535"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783080"/>
            <a:ext cx="5349240" cy="2057400"/>
          </a:xfrm>
          <a:prstGeom prst="rect">
            <a:avLst/>
          </a:prstGeom>
          <a:solidFill>
            <a:srgbClr val="FBF9F4"/>
          </a:solidFill>
          <a:ln w="9525">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47672"/>
            <a:ext cx="4983480" cy="365760"/>
          </a:xfrm>
          <a:prstGeom prst="rect">
            <a:avLst/>
          </a:prstGeom>
          <a:noFill/>
        </p:spPr>
        <p:txBody>
          <a:bodyPr wrap="square" lIns="0" rIns="0" tIns="0" bIns="0">
            <a:spAutoFit/>
          </a:bodyPr>
          <a:lstStyle/>
          <a:p>
            <a:pPr algn="l">
              <a:lnSpc>
                <a:spcPct val="115000"/>
              </a:lnSpc>
            </a:pPr>
            <a:r>
              <a:rPr sz="1500" b="1">
                <a:solidFill>
                  <a:srgbClr val="0F5C5C"/>
                </a:solidFill>
                <a:latin typeface="Menlo"/>
              </a:rPr>
              <a:t>E# ledger</a:t>
            </a:r>
          </a:p>
        </p:txBody>
      </p:sp>
      <p:sp>
        <p:nvSpPr>
          <p:cNvPr id="7" name="TextBox 6"/>
          <p:cNvSpPr txBox="1"/>
          <p:nvPr/>
        </p:nvSpPr>
        <p:spPr>
          <a:xfrm>
            <a:off x="822960" y="2350008"/>
            <a:ext cx="4983480" cy="137160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Every fact: one-sentence claim, verbatim quote, source, date. IDs assigned by code, not trusted from the model.</a:t>
            </a:r>
          </a:p>
        </p:txBody>
      </p:sp>
      <p:sp>
        <p:nvSpPr>
          <p:cNvPr id="8" name="Rectangle 7"/>
          <p:cNvSpPr/>
          <p:nvPr/>
        </p:nvSpPr>
        <p:spPr>
          <a:xfrm>
            <a:off x="6172200" y="1783080"/>
            <a:ext cx="5349240" cy="2057400"/>
          </a:xfrm>
          <a:prstGeom prst="rect">
            <a:avLst/>
          </a:prstGeom>
          <a:solidFill>
            <a:srgbClr val="FBF9F4"/>
          </a:solidFill>
          <a:ln w="9525">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947672"/>
            <a:ext cx="4983480" cy="365760"/>
          </a:xfrm>
          <a:prstGeom prst="rect">
            <a:avLst/>
          </a:prstGeom>
          <a:noFill/>
        </p:spPr>
        <p:txBody>
          <a:bodyPr wrap="square" lIns="0" rIns="0" tIns="0" bIns="0">
            <a:spAutoFit/>
          </a:bodyPr>
          <a:lstStyle/>
          <a:p>
            <a:pPr algn="l">
              <a:lnSpc>
                <a:spcPct val="115000"/>
              </a:lnSpc>
            </a:pPr>
            <a:r>
              <a:rPr sz="1500" b="1">
                <a:solidFill>
                  <a:srgbClr val="0F5C5C"/>
                </a:solidFill>
                <a:latin typeface="Menlo"/>
              </a:rPr>
              <a:t>[PLACEHOLDER: ...]</a:t>
            </a:r>
          </a:p>
        </p:txBody>
      </p:sp>
      <p:sp>
        <p:nvSpPr>
          <p:cNvPr id="10" name="TextBox 9"/>
          <p:cNvSpPr txBox="1"/>
          <p:nvPr/>
        </p:nvSpPr>
        <p:spPr>
          <a:xfrm>
            <a:off x="6355080" y="2350008"/>
            <a:ext cx="4983480" cy="137160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Where proof is missing, the asset says so visibly. No invented statistics, customers, quotes or benchmarks.</a:t>
            </a:r>
          </a:p>
        </p:txBody>
      </p:sp>
      <p:sp>
        <p:nvSpPr>
          <p:cNvPr id="11" name="Rectangle 10"/>
          <p:cNvSpPr/>
          <p:nvPr/>
        </p:nvSpPr>
        <p:spPr>
          <a:xfrm>
            <a:off x="640080" y="4023360"/>
            <a:ext cx="5349240" cy="2057400"/>
          </a:xfrm>
          <a:prstGeom prst="rect">
            <a:avLst/>
          </a:prstGeom>
          <a:solidFill>
            <a:srgbClr val="FBF9F4"/>
          </a:solidFill>
          <a:ln w="9525">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187952"/>
            <a:ext cx="4983480" cy="365760"/>
          </a:xfrm>
          <a:prstGeom prst="rect">
            <a:avLst/>
          </a:prstGeom>
          <a:noFill/>
        </p:spPr>
        <p:txBody>
          <a:bodyPr wrap="square" lIns="0" rIns="0" tIns="0" bIns="0">
            <a:spAutoFit/>
          </a:bodyPr>
          <a:lstStyle/>
          <a:p>
            <a:pPr algn="l">
              <a:lnSpc>
                <a:spcPct val="115000"/>
              </a:lnSpc>
            </a:pPr>
            <a:r>
              <a:rPr sz="1500" b="1">
                <a:solidFill>
                  <a:srgbClr val="0F5C5C"/>
                </a:solidFill>
                <a:latin typeface="Menlo"/>
              </a:rPr>
              <a:t>Verifier gate</a:t>
            </a:r>
          </a:p>
        </p:txBody>
      </p:sp>
      <p:sp>
        <p:nvSpPr>
          <p:cNvPr id="13" name="TextBox 12"/>
          <p:cNvSpPr txBox="1"/>
          <p:nvPr/>
        </p:nvSpPr>
        <p:spPr>
          <a:xfrm>
            <a:off x="822960" y="4590288"/>
            <a:ext cx="4983480" cy="137160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Each claim is supported, unsupported, contradicted or opinion. Pass only if every claim holds.</a:t>
            </a:r>
          </a:p>
        </p:txBody>
      </p:sp>
      <p:sp>
        <p:nvSpPr>
          <p:cNvPr id="14" name="Rectangle 13"/>
          <p:cNvSpPr/>
          <p:nvPr/>
        </p:nvSpPr>
        <p:spPr>
          <a:xfrm>
            <a:off x="6172200" y="4023360"/>
            <a:ext cx="5349240" cy="2057400"/>
          </a:xfrm>
          <a:prstGeom prst="rect">
            <a:avLst/>
          </a:prstGeom>
          <a:solidFill>
            <a:srgbClr val="FBF9F4"/>
          </a:solidFill>
          <a:ln w="9525">
            <a:solidFill>
              <a:srgbClr val="D9D3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187952"/>
            <a:ext cx="4983480" cy="365760"/>
          </a:xfrm>
          <a:prstGeom prst="rect">
            <a:avLst/>
          </a:prstGeom>
          <a:noFill/>
        </p:spPr>
        <p:txBody>
          <a:bodyPr wrap="square" lIns="0" rIns="0" tIns="0" bIns="0">
            <a:spAutoFit/>
          </a:bodyPr>
          <a:lstStyle/>
          <a:p>
            <a:pPr algn="l">
              <a:lnSpc>
                <a:spcPct val="115000"/>
              </a:lnSpc>
            </a:pPr>
            <a:r>
              <a:rPr sz="1500" b="1">
                <a:solidFill>
                  <a:srgbClr val="0F5C5C"/>
                </a:solidFill>
                <a:latin typeface="Menlo"/>
              </a:rPr>
              <a:t>One revision, then a human</a:t>
            </a:r>
          </a:p>
        </p:txBody>
      </p:sp>
      <p:sp>
        <p:nvSpPr>
          <p:cNvPr id="16" name="TextBox 15"/>
          <p:cNvSpPr txBox="1"/>
          <p:nvPr/>
        </p:nvSpPr>
        <p:spPr>
          <a:xfrm>
            <a:off x="6355080" y="4590288"/>
            <a:ext cx="4983480" cy="137160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Needs revision triggers one reviser pass. A second failure ships with a needs-human-review verdict.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pPr algn="l">
              <a:lnSpc>
                <a:spcPct val="115000"/>
              </a:lnSpc>
            </a:pPr>
            <a:r>
              <a:rPr sz="1100" b="1">
                <a:solidFill>
                  <a:srgbClr val="0F5C5C"/>
                </a:solidFill>
                <a:latin typeface="Helvetica Neue"/>
              </a:rPr>
              <a:t>LIVE DEMO  ·  THE CAMPAIGN</a:t>
            </a:r>
          </a:p>
        </p:txBody>
      </p:sp>
      <p:sp>
        <p:nvSpPr>
          <p:cNvPr id="3" name="TextBox 2"/>
          <p:cNvSpPr txBox="1"/>
          <p:nvPr/>
        </p:nvSpPr>
        <p:spPr>
          <a:xfrm>
            <a:off x="640080" y="685800"/>
            <a:ext cx="10881360" cy="822960"/>
          </a:xfrm>
          <a:prstGeom prst="rect">
            <a:avLst/>
          </a:prstGeom>
          <a:noFill/>
        </p:spPr>
        <p:txBody>
          <a:bodyPr wrap="square" lIns="0" rIns="0" tIns="0" bIns="0">
            <a:spAutoFit/>
          </a:bodyPr>
          <a:lstStyle/>
          <a:p>
            <a:pPr algn="l">
              <a:lnSpc>
                <a:spcPct val="115000"/>
              </a:lnSpc>
            </a:pPr>
            <a:r>
              <a:rPr sz="3000" b="1">
                <a:solidFill>
                  <a:srgbClr val="1A1A1A"/>
                </a:solidFill>
                <a:latin typeface="Helvetica Neue"/>
              </a:rPr>
              <a:t>Nine stages, five verified assets, ready to download</a:t>
            </a:r>
          </a:p>
        </p:txBody>
      </p:sp>
      <p:cxnSp>
        <p:nvCxnSpPr>
          <p:cNvPr id="4" name="Connector 3"/>
          <p:cNvCxnSpPr/>
          <p:nvPr/>
        </p:nvCxnSpPr>
        <p:spPr>
          <a:xfrm>
            <a:off x="640080" y="1417320"/>
            <a:ext cx="10911535"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pic>
        <p:nvPicPr>
          <p:cNvPr id="5" name="Picture 4" descr="build-complete-assets-1440.png"/>
          <p:cNvPicPr>
            <a:picLocks noChangeAspect="1"/>
          </p:cNvPicPr>
          <p:nvPr/>
        </p:nvPicPr>
        <p:blipFill>
          <a:blip r:embed="rId3"/>
          <a:srcRect b="78186"/>
          <a:stretch>
            <a:fillRect/>
          </a:stretch>
        </p:blipFill>
        <p:spPr>
          <a:xfrm>
            <a:off x="640080" y="1691640"/>
            <a:ext cx="10881360" cy="4846320"/>
          </a:xfrm>
          <a:prstGeom prst="rect">
            <a:avLst/>
          </a:prstGeom>
          <a:ln w="9525">
            <a:solidFill>
              <a:srgbClr val="D9D3C7"/>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pPr algn="l">
              <a:lnSpc>
                <a:spcPct val="115000"/>
              </a:lnSpc>
            </a:pPr>
            <a:r>
              <a:rPr sz="1100" b="1">
                <a:solidFill>
                  <a:srgbClr val="0F5C5C"/>
                </a:solidFill>
                <a:latin typeface="Helvetica Neue"/>
              </a:rPr>
              <a:t>MEMORY  ·  CARD D</a:t>
            </a:r>
          </a:p>
        </p:txBody>
      </p:sp>
      <p:sp>
        <p:nvSpPr>
          <p:cNvPr id="3" name="TextBox 2"/>
          <p:cNvSpPr txBox="1"/>
          <p:nvPr/>
        </p:nvSpPr>
        <p:spPr>
          <a:xfrm>
            <a:off x="640080" y="685800"/>
            <a:ext cx="10881360" cy="822960"/>
          </a:xfrm>
          <a:prstGeom prst="rect">
            <a:avLst/>
          </a:prstGeom>
          <a:noFill/>
        </p:spPr>
        <p:txBody>
          <a:bodyPr wrap="square" lIns="0" rIns="0" tIns="0" bIns="0">
            <a:spAutoFit/>
          </a:bodyPr>
          <a:lstStyle/>
          <a:p>
            <a:pPr algn="l">
              <a:lnSpc>
                <a:spcPct val="115000"/>
              </a:lnSpc>
            </a:pPr>
            <a:r>
              <a:rPr sz="3000" b="1">
                <a:solidFill>
                  <a:srgbClr val="1A1A1A"/>
                </a:solidFill>
                <a:latin typeface="Helvetica Neue"/>
              </a:rPr>
              <a:t>Session two is sharper because Memoria remembers</a:t>
            </a:r>
          </a:p>
        </p:txBody>
      </p:sp>
      <p:cxnSp>
        <p:nvCxnSpPr>
          <p:cNvPr id="4" name="Connector 3"/>
          <p:cNvCxnSpPr/>
          <p:nvPr/>
        </p:nvCxnSpPr>
        <p:spPr>
          <a:xfrm>
            <a:off x="640080" y="1417320"/>
            <a:ext cx="10911535"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pic>
        <p:nvPicPr>
          <p:cNvPr id="5" name="Picture 4" descr="strategy-and-memory-diff-1440.png"/>
          <p:cNvPicPr>
            <a:picLocks noChangeAspect="1"/>
          </p:cNvPicPr>
          <p:nvPr/>
        </p:nvPicPr>
        <p:blipFill>
          <a:blip r:embed="rId3"/>
          <a:srcRect t="65097"/>
          <a:stretch>
            <a:fillRect/>
          </a:stretch>
        </p:blipFill>
        <p:spPr>
          <a:xfrm>
            <a:off x="640080" y="1691640"/>
            <a:ext cx="6583680" cy="4846320"/>
          </a:xfrm>
          <a:prstGeom prst="rect">
            <a:avLst/>
          </a:prstGeom>
          <a:ln w="9525">
            <a:solidFill>
              <a:srgbClr val="D9D3C7"/>
            </a:solidFill>
          </a:ln>
        </p:spPr>
      </p:pic>
      <p:sp>
        <p:nvSpPr>
          <p:cNvPr id="6" name="TextBox 5"/>
          <p:cNvSpPr txBox="1"/>
          <p:nvPr/>
        </p:nvSpPr>
        <p:spPr>
          <a:xfrm>
            <a:off x="7543800" y="1783080"/>
            <a:ext cx="3931920" cy="320040"/>
          </a:xfrm>
          <a:prstGeom prst="rect">
            <a:avLst/>
          </a:prstGeom>
          <a:noFill/>
        </p:spPr>
        <p:txBody>
          <a:bodyPr wrap="square" lIns="0" rIns="0" tIns="0" bIns="0">
            <a:spAutoFit/>
          </a:bodyPr>
          <a:lstStyle/>
          <a:p>
            <a:pPr algn="l">
              <a:lnSpc>
                <a:spcPct val="115000"/>
              </a:lnSpc>
            </a:pPr>
            <a:r>
              <a:rPr sz="1500" b="1">
                <a:solidFill>
                  <a:srgbClr val="1A1A1A"/>
                </a:solidFill>
                <a:latin typeface="Helvetica Neue"/>
              </a:rPr>
              <a:t>Round 1</a:t>
            </a:r>
          </a:p>
        </p:txBody>
      </p:sp>
      <p:sp>
        <p:nvSpPr>
          <p:cNvPr id="7" name="TextBox 6"/>
          <p:cNvSpPr txBox="1"/>
          <p:nvPr/>
        </p:nvSpPr>
        <p:spPr>
          <a:xfrm>
            <a:off x="7543800" y="2103120"/>
            <a:ext cx="3931920" cy="7772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Customer stack, earlier objections, current pitch deck.</a:t>
            </a:r>
          </a:p>
        </p:txBody>
      </p:sp>
      <p:sp>
        <p:nvSpPr>
          <p:cNvPr id="8" name="TextBox 7"/>
          <p:cNvSpPr txBox="1"/>
          <p:nvPr/>
        </p:nvSpPr>
        <p:spPr>
          <a:xfrm>
            <a:off x="7543800" y="2953512"/>
            <a:ext cx="3931920" cy="320040"/>
          </a:xfrm>
          <a:prstGeom prst="rect">
            <a:avLst/>
          </a:prstGeom>
          <a:noFill/>
        </p:spPr>
        <p:txBody>
          <a:bodyPr wrap="square" lIns="0" rIns="0" tIns="0" bIns="0">
            <a:spAutoFit/>
          </a:bodyPr>
          <a:lstStyle/>
          <a:p>
            <a:pPr algn="l">
              <a:lnSpc>
                <a:spcPct val="115000"/>
              </a:lnSpc>
            </a:pPr>
            <a:r>
              <a:rPr sz="1500" b="1">
                <a:solidFill>
                  <a:srgbClr val="1A1A1A"/>
                </a:solidFill>
                <a:latin typeface="Helvetica Neue"/>
              </a:rPr>
              <a:t>Round 2</a:t>
            </a:r>
          </a:p>
        </p:txBody>
      </p:sp>
      <p:sp>
        <p:nvSpPr>
          <p:cNvPr id="9" name="TextBox 8"/>
          <p:cNvSpPr txBox="1"/>
          <p:nvPr/>
        </p:nvSpPr>
        <p:spPr>
          <a:xfrm>
            <a:off x="7543800" y="3273552"/>
            <a:ext cx="3931920" cy="7772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New objection from the latest call, plus a competitive update.</a:t>
            </a:r>
          </a:p>
        </p:txBody>
      </p:sp>
      <p:sp>
        <p:nvSpPr>
          <p:cNvPr id="10" name="TextBox 9"/>
          <p:cNvSpPr txBox="1"/>
          <p:nvPr/>
        </p:nvSpPr>
        <p:spPr>
          <a:xfrm>
            <a:off x="7543800" y="4123944"/>
            <a:ext cx="3931920" cy="320040"/>
          </a:xfrm>
          <a:prstGeom prst="rect">
            <a:avLst/>
          </a:prstGeom>
          <a:noFill/>
        </p:spPr>
        <p:txBody>
          <a:bodyPr wrap="square" lIns="0" rIns="0" tIns="0" bIns="0">
            <a:spAutoFit/>
          </a:bodyPr>
          <a:lstStyle/>
          <a:p>
            <a:pPr algn="l">
              <a:lnSpc>
                <a:spcPct val="115000"/>
              </a:lnSpc>
            </a:pPr>
            <a:r>
              <a:rPr sz="1500" b="1">
                <a:solidFill>
                  <a:srgbClr val="1A1A1A"/>
                </a:solidFill>
                <a:latin typeface="Helvetica Neue"/>
              </a:rPr>
              <a:t>Session 2 answer</a:t>
            </a:r>
          </a:p>
        </p:txBody>
      </p:sp>
      <p:sp>
        <p:nvSpPr>
          <p:cNvPr id="11" name="TextBox 10"/>
          <p:cNvSpPr txBox="1"/>
          <p:nvPr/>
        </p:nvSpPr>
        <p:spPr>
          <a:xfrm>
            <a:off x="7543800" y="4443984"/>
            <a:ext cx="3931920" cy="7772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Opens “Since our last session: ...”, answers the new objection, reorders the pitch.</a:t>
            </a:r>
          </a:p>
        </p:txBody>
      </p:sp>
      <p:sp>
        <p:nvSpPr>
          <p:cNvPr id="12" name="TextBox 11"/>
          <p:cNvSpPr txBox="1"/>
          <p:nvPr/>
        </p:nvSpPr>
        <p:spPr>
          <a:xfrm>
            <a:off x="7543800" y="5294376"/>
            <a:ext cx="3931920" cy="320040"/>
          </a:xfrm>
          <a:prstGeom prst="rect">
            <a:avLst/>
          </a:prstGeom>
          <a:noFill/>
        </p:spPr>
        <p:txBody>
          <a:bodyPr wrap="square" lIns="0" rIns="0" tIns="0" bIns="0">
            <a:spAutoFit/>
          </a:bodyPr>
          <a:lstStyle/>
          <a:p>
            <a:pPr algn="l">
              <a:lnSpc>
                <a:spcPct val="115000"/>
              </a:lnSpc>
            </a:pPr>
            <a:r>
              <a:rPr sz="1500" b="1">
                <a:solidFill>
                  <a:srgbClr val="1A1A1A"/>
                </a:solidFill>
                <a:latin typeface="Helvetica Neue"/>
              </a:rPr>
              <a:t>One store per tenant</a:t>
            </a:r>
          </a:p>
        </p:txBody>
      </p:sp>
      <p:sp>
        <p:nvSpPr>
          <p:cNvPr id="13" name="TextBox 12"/>
          <p:cNvSpPr txBox="1"/>
          <p:nvPr/>
        </p:nvSpPr>
        <p:spPr>
          <a:xfrm>
            <a:off x="7543800" y="5614416"/>
            <a:ext cx="3931920" cy="777240"/>
          </a:xfrm>
          <a:prstGeom prst="rect">
            <a:avLst/>
          </a:prstGeom>
          <a:noFill/>
        </p:spPr>
        <p:txBody>
          <a:bodyPr wrap="square" lIns="0" rIns="0" tIns="0" bIns="0">
            <a:spAutoFit/>
          </a:bodyPr>
          <a:lstStyle/>
          <a:p>
            <a:pPr algn="l">
              <a:lnSpc>
                <a:spcPct val="115000"/>
              </a:lnSpc>
            </a:pPr>
            <a:r>
              <a:rPr sz="1300" b="0">
                <a:solidFill>
                  <a:srgbClr val="6B6760"/>
                </a:solidFill>
                <a:latin typeface="Helvetica Neue"/>
              </a:rPr>
              <a:t>Isolation is tested: a canary planted in one tenant must never appear in another’s output.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pPr algn="l">
              <a:lnSpc>
                <a:spcPct val="115000"/>
              </a:lnSpc>
            </a:pPr>
            <a:r>
              <a:rPr sz="1100" b="1">
                <a:solidFill>
                  <a:srgbClr val="0F5C5C"/>
                </a:solidFill>
                <a:latin typeface="Helvetica Neue"/>
              </a:rPr>
              <a:t>ENGINEERING</a:t>
            </a:r>
          </a:p>
        </p:txBody>
      </p:sp>
      <p:sp>
        <p:nvSpPr>
          <p:cNvPr id="3" name="TextBox 2"/>
          <p:cNvSpPr txBox="1"/>
          <p:nvPr/>
        </p:nvSpPr>
        <p:spPr>
          <a:xfrm>
            <a:off x="640080" y="685800"/>
            <a:ext cx="10881360" cy="822960"/>
          </a:xfrm>
          <a:prstGeom prst="rect">
            <a:avLst/>
          </a:prstGeom>
          <a:noFill/>
        </p:spPr>
        <p:txBody>
          <a:bodyPr wrap="square" lIns="0" rIns="0" tIns="0" bIns="0">
            <a:spAutoFit/>
          </a:bodyPr>
          <a:lstStyle/>
          <a:p>
            <a:pPr algn="l">
              <a:lnSpc>
                <a:spcPct val="115000"/>
              </a:lnSpc>
            </a:pPr>
            <a:r>
              <a:rPr sz="3000" b="1">
                <a:solidFill>
                  <a:srgbClr val="1A1A1A"/>
                </a:solidFill>
                <a:latin typeface="Helvetica Neue"/>
              </a:rPr>
              <a:t>Built test-first, measured before tuned</a:t>
            </a:r>
          </a:p>
        </p:txBody>
      </p:sp>
      <p:cxnSp>
        <p:nvCxnSpPr>
          <p:cNvPr id="4" name="Connector 3"/>
          <p:cNvCxnSpPr/>
          <p:nvPr/>
        </p:nvCxnSpPr>
        <p:spPr>
          <a:xfrm>
            <a:off x="640080" y="1417320"/>
            <a:ext cx="10911535"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828800"/>
            <a:ext cx="2560320" cy="914400"/>
          </a:xfrm>
          <a:prstGeom prst="rect">
            <a:avLst/>
          </a:prstGeom>
          <a:noFill/>
        </p:spPr>
        <p:txBody>
          <a:bodyPr wrap="square" lIns="0" rIns="0" tIns="0" bIns="0">
            <a:spAutoFit/>
          </a:bodyPr>
          <a:lstStyle/>
          <a:p>
            <a:pPr algn="l">
              <a:lnSpc>
                <a:spcPct val="115000"/>
              </a:lnSpc>
            </a:pPr>
            <a:r>
              <a:rPr sz="5400" b="1">
                <a:solidFill>
                  <a:srgbClr val="0F5C5C"/>
                </a:solidFill>
                <a:latin typeface="Helvetica Neue"/>
              </a:rPr>
              <a:t>505</a:t>
            </a:r>
          </a:p>
        </p:txBody>
      </p:sp>
      <p:sp>
        <p:nvSpPr>
          <p:cNvPr id="6" name="TextBox 5"/>
          <p:cNvSpPr txBox="1"/>
          <p:nvPr/>
        </p:nvSpPr>
        <p:spPr>
          <a:xfrm>
            <a:off x="640080" y="2788920"/>
            <a:ext cx="2560320" cy="548640"/>
          </a:xfrm>
          <a:prstGeom prst="rect">
            <a:avLst/>
          </a:prstGeom>
          <a:noFill/>
        </p:spPr>
        <p:txBody>
          <a:bodyPr wrap="square" lIns="0" rIns="0" tIns="0" bIns="0">
            <a:spAutoFit/>
          </a:bodyPr>
          <a:lstStyle/>
          <a:p>
            <a:pPr algn="l">
              <a:lnSpc>
                <a:spcPct val="115000"/>
              </a:lnSpc>
            </a:pPr>
            <a:r>
              <a:rPr sz="1400" b="0">
                <a:solidFill>
                  <a:srgbClr val="6B6760"/>
                </a:solidFill>
                <a:latin typeface="Helvetica Neue"/>
              </a:rPr>
              <a:t>backend tests passing</a:t>
            </a:r>
          </a:p>
        </p:txBody>
      </p:sp>
      <p:sp>
        <p:nvSpPr>
          <p:cNvPr id="7" name="TextBox 6"/>
          <p:cNvSpPr txBox="1"/>
          <p:nvPr/>
        </p:nvSpPr>
        <p:spPr>
          <a:xfrm>
            <a:off x="3383280" y="1828800"/>
            <a:ext cx="2560320" cy="914400"/>
          </a:xfrm>
          <a:prstGeom prst="rect">
            <a:avLst/>
          </a:prstGeom>
          <a:noFill/>
        </p:spPr>
        <p:txBody>
          <a:bodyPr wrap="square" lIns="0" rIns="0" tIns="0" bIns="0">
            <a:spAutoFit/>
          </a:bodyPr>
          <a:lstStyle/>
          <a:p>
            <a:pPr algn="l">
              <a:lnSpc>
                <a:spcPct val="115000"/>
              </a:lnSpc>
            </a:pPr>
            <a:r>
              <a:rPr sz="5400" b="1">
                <a:solidFill>
                  <a:srgbClr val="0F5C5C"/>
                </a:solidFill>
                <a:latin typeface="Helvetica Neue"/>
              </a:rPr>
              <a:t>120</a:t>
            </a:r>
          </a:p>
        </p:txBody>
      </p:sp>
      <p:sp>
        <p:nvSpPr>
          <p:cNvPr id="8" name="TextBox 7"/>
          <p:cNvSpPr txBox="1"/>
          <p:nvPr/>
        </p:nvSpPr>
        <p:spPr>
          <a:xfrm>
            <a:off x="3383280" y="2788920"/>
            <a:ext cx="2560320" cy="548640"/>
          </a:xfrm>
          <a:prstGeom prst="rect">
            <a:avLst/>
          </a:prstGeom>
          <a:noFill/>
        </p:spPr>
        <p:txBody>
          <a:bodyPr wrap="square" lIns="0" rIns="0" tIns="0" bIns="0">
            <a:spAutoFit/>
          </a:bodyPr>
          <a:lstStyle/>
          <a:p>
            <a:pPr algn="l">
              <a:lnSpc>
                <a:spcPct val="115000"/>
              </a:lnSpc>
            </a:pPr>
            <a:r>
              <a:rPr sz="1400" b="0">
                <a:solidFill>
                  <a:srgbClr val="6B6760"/>
                </a:solidFill>
                <a:latin typeface="Helvetica Neue"/>
              </a:rPr>
              <a:t>web unit tests</a:t>
            </a:r>
          </a:p>
        </p:txBody>
      </p:sp>
      <p:sp>
        <p:nvSpPr>
          <p:cNvPr id="9" name="TextBox 8"/>
          <p:cNvSpPr txBox="1"/>
          <p:nvPr/>
        </p:nvSpPr>
        <p:spPr>
          <a:xfrm>
            <a:off x="6126480" y="1828800"/>
            <a:ext cx="2560320" cy="914400"/>
          </a:xfrm>
          <a:prstGeom prst="rect">
            <a:avLst/>
          </a:prstGeom>
          <a:noFill/>
        </p:spPr>
        <p:txBody>
          <a:bodyPr wrap="square" lIns="0" rIns="0" tIns="0" bIns="0">
            <a:spAutoFit/>
          </a:bodyPr>
          <a:lstStyle/>
          <a:p>
            <a:pPr algn="l">
              <a:lnSpc>
                <a:spcPct val="115000"/>
              </a:lnSpc>
            </a:pPr>
            <a:r>
              <a:rPr sz="5400" b="1">
                <a:solidFill>
                  <a:srgbClr val="0F5C5C"/>
                </a:solidFill>
                <a:latin typeface="Helvetica Neue"/>
              </a:rPr>
              <a:t>23</a:t>
            </a:r>
          </a:p>
        </p:txBody>
      </p:sp>
      <p:sp>
        <p:nvSpPr>
          <p:cNvPr id="10" name="TextBox 9"/>
          <p:cNvSpPr txBox="1"/>
          <p:nvPr/>
        </p:nvSpPr>
        <p:spPr>
          <a:xfrm>
            <a:off x="6126480" y="2788920"/>
            <a:ext cx="2560320" cy="548640"/>
          </a:xfrm>
          <a:prstGeom prst="rect">
            <a:avLst/>
          </a:prstGeom>
          <a:noFill/>
        </p:spPr>
        <p:txBody>
          <a:bodyPr wrap="square" lIns="0" rIns="0" tIns="0" bIns="0">
            <a:spAutoFit/>
          </a:bodyPr>
          <a:lstStyle/>
          <a:p>
            <a:pPr algn="l">
              <a:lnSpc>
                <a:spcPct val="115000"/>
              </a:lnSpc>
            </a:pPr>
            <a:r>
              <a:rPr sz="1400" b="0">
                <a:solidFill>
                  <a:srgbClr val="6B6760"/>
                </a:solidFill>
                <a:latin typeface="Helvetica Neue"/>
              </a:rPr>
              <a:t>Playwright end-to-end tests</a:t>
            </a:r>
          </a:p>
        </p:txBody>
      </p:sp>
      <p:sp>
        <p:nvSpPr>
          <p:cNvPr id="11" name="TextBox 10"/>
          <p:cNvSpPr txBox="1"/>
          <p:nvPr/>
        </p:nvSpPr>
        <p:spPr>
          <a:xfrm>
            <a:off x="8869680" y="1828800"/>
            <a:ext cx="2560320" cy="914400"/>
          </a:xfrm>
          <a:prstGeom prst="rect">
            <a:avLst/>
          </a:prstGeom>
          <a:noFill/>
        </p:spPr>
        <p:txBody>
          <a:bodyPr wrap="square" lIns="0" rIns="0" tIns="0" bIns="0">
            <a:spAutoFit/>
          </a:bodyPr>
          <a:lstStyle/>
          <a:p>
            <a:pPr algn="l">
              <a:lnSpc>
                <a:spcPct val="115000"/>
              </a:lnSpc>
            </a:pPr>
            <a:r>
              <a:rPr sz="5400" b="1">
                <a:solidFill>
                  <a:srgbClr val="0F5C5C"/>
                </a:solidFill>
                <a:latin typeface="Helvetica Neue"/>
              </a:rPr>
              <a:t>3</a:t>
            </a:r>
          </a:p>
        </p:txBody>
      </p:sp>
      <p:sp>
        <p:nvSpPr>
          <p:cNvPr id="12" name="TextBox 11"/>
          <p:cNvSpPr txBox="1"/>
          <p:nvPr/>
        </p:nvSpPr>
        <p:spPr>
          <a:xfrm>
            <a:off x="8869680" y="2788920"/>
            <a:ext cx="2560320" cy="548640"/>
          </a:xfrm>
          <a:prstGeom prst="rect">
            <a:avLst/>
          </a:prstGeom>
          <a:noFill/>
        </p:spPr>
        <p:txBody>
          <a:bodyPr wrap="square" lIns="0" rIns="0" tIns="0" bIns="0">
            <a:spAutoFit/>
          </a:bodyPr>
          <a:lstStyle/>
          <a:p>
            <a:pPr algn="l">
              <a:lnSpc>
                <a:spcPct val="115000"/>
              </a:lnSpc>
            </a:pPr>
            <a:r>
              <a:rPr sz="1400" b="0">
                <a:solidFill>
                  <a:srgbClr val="6B6760"/>
                </a:solidFill>
                <a:latin typeface="Helvetica Neue"/>
              </a:rPr>
              <a:t>fictional tenants, one holdout</a:t>
            </a:r>
          </a:p>
        </p:txBody>
      </p:sp>
      <p:cxnSp>
        <p:nvCxnSpPr>
          <p:cNvPr id="13" name="Connector 12"/>
          <p:cNvCxnSpPr/>
          <p:nvPr/>
        </p:nvCxnSpPr>
        <p:spPr>
          <a:xfrm>
            <a:off x="640080" y="3657600"/>
            <a:ext cx="10911535"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0080" y="3886200"/>
            <a:ext cx="10881360" cy="2377440"/>
          </a:xfrm>
          <a:prstGeom prst="rect">
            <a:avLst/>
          </a:prstGeom>
          <a:noFill/>
        </p:spPr>
        <p:txBody>
          <a:bodyPr wrap="square" lIns="0" rIns="0" tIns="0" bIns="0">
            <a:spAutoFit/>
          </a:bodyPr>
          <a:lstStyle/>
          <a:p>
            <a:pPr algn="l">
              <a:lnSpc>
                <a:spcPct val="115000"/>
              </a:lnSpc>
            </a:pPr>
            <a:r>
              <a:rPr sz="1500" b="0">
                <a:solidFill>
                  <a:srgbClr val="1A1A1A"/>
                </a:solidFill>
                <a:latin typeface="Helvetica Neue"/>
              </a:rPr>
              <a:t>Eval: a simulated rep plays a hidden fact sheet in speech-to-text style; deterministic checks for slot recall, the new objection,</a:t>
            </a:r>
          </a:p>
          <a:p>
            <a:pPr algn="l">
              <a:lnSpc>
                <a:spcPct val="115000"/>
              </a:lnSpc>
            </a:pPr>
            <a:r>
              <a:rPr sz="1500" b="0">
                <a:solidFill>
                  <a:srgbClr val="1A1A1A"/>
                </a:solidFill>
                <a:latin typeface="Helvetica Neue"/>
              </a:rPr>
              <a:t>the competitive update, pitch-order change, superseded objections and tenant isolation; one-criterion LLM judges for the rest.</a:t>
            </a:r>
          </a:p>
          <a:p>
            <a:pPr algn="l">
              <a:lnSpc>
                <a:spcPct val="115000"/>
              </a:lnSpc>
            </a:pPr>
            <a:r>
              <a:rPr sz="1500" b="0">
                <a:solidFill>
                  <a:srgbClr val="1A1A1A"/>
                </a:solidFill>
                <a:latin typeface="Helvetica Neue"/>
              </a:rPr>
              <a:t>Fake mode swaps every external service for deterministic fakes, so the full stack runs in CI with no API calls.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640080" y="411480"/>
            <a:ext cx="7315200" cy="274320"/>
          </a:xfrm>
          <a:prstGeom prst="rect">
            <a:avLst/>
          </a:prstGeom>
          <a:noFill/>
        </p:spPr>
        <p:txBody>
          <a:bodyPr wrap="square" lIns="0" rIns="0" tIns="0" bIns="0">
            <a:spAutoFit/>
          </a:bodyPr>
          <a:lstStyle/>
          <a:p>
            <a:pPr algn="l">
              <a:lnSpc>
                <a:spcPct val="115000"/>
              </a:lnSpc>
            </a:pPr>
            <a:r>
              <a:rPr sz="1100" b="1">
                <a:solidFill>
                  <a:srgbClr val="0F5C5C"/>
                </a:solidFill>
                <a:latin typeface="Helvetica Neue"/>
              </a:rPr>
              <a:t>STATUS</a:t>
            </a:r>
          </a:p>
        </p:txBody>
      </p:sp>
      <p:sp>
        <p:nvSpPr>
          <p:cNvPr id="3" name="TextBox 2"/>
          <p:cNvSpPr txBox="1"/>
          <p:nvPr/>
        </p:nvSpPr>
        <p:spPr>
          <a:xfrm>
            <a:off x="640080" y="685800"/>
            <a:ext cx="10881360" cy="822960"/>
          </a:xfrm>
          <a:prstGeom prst="rect">
            <a:avLst/>
          </a:prstGeom>
          <a:noFill/>
        </p:spPr>
        <p:txBody>
          <a:bodyPr wrap="square" lIns="0" rIns="0" tIns="0" bIns="0">
            <a:spAutoFit/>
          </a:bodyPr>
          <a:lstStyle/>
          <a:p>
            <a:pPr algn="l">
              <a:lnSpc>
                <a:spcPct val="115000"/>
              </a:lnSpc>
            </a:pPr>
            <a:r>
              <a:rPr sz="3000" b="1">
                <a:solidFill>
                  <a:srgbClr val="1A1A1A"/>
                </a:solidFill>
                <a:latin typeface="Helvetica Neue"/>
              </a:rPr>
              <a:t>What is proven, and what is next</a:t>
            </a:r>
          </a:p>
        </p:txBody>
      </p:sp>
      <p:cxnSp>
        <p:nvCxnSpPr>
          <p:cNvPr id="4" name="Connector 3"/>
          <p:cNvCxnSpPr/>
          <p:nvPr/>
        </p:nvCxnSpPr>
        <p:spPr>
          <a:xfrm>
            <a:off x="640080" y="1417320"/>
            <a:ext cx="10911535" cy="0"/>
          </a:xfrm>
          <a:prstGeom prst="line">
            <a:avLst/>
          </a:prstGeom>
          <a:ln w="15875">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5303520" cy="365760"/>
          </a:xfrm>
          <a:prstGeom prst="rect">
            <a:avLst/>
          </a:prstGeom>
          <a:noFill/>
        </p:spPr>
        <p:txBody>
          <a:bodyPr wrap="square" lIns="0" rIns="0" tIns="0" bIns="0">
            <a:spAutoFit/>
          </a:bodyPr>
          <a:lstStyle/>
          <a:p>
            <a:pPr algn="l">
              <a:lnSpc>
                <a:spcPct val="115000"/>
              </a:lnSpc>
            </a:pPr>
            <a:r>
              <a:rPr sz="1200" b="1">
                <a:solidFill>
                  <a:srgbClr val="0F5C5C"/>
                </a:solidFill>
                <a:latin typeface="Helvetica Neue"/>
              </a:rPr>
              <a:t>PROVEN TODAY</a:t>
            </a:r>
          </a:p>
        </p:txBody>
      </p:sp>
      <p:sp>
        <p:nvSpPr>
          <p:cNvPr id="6" name="TextBox 5"/>
          <p:cNvSpPr txBox="1"/>
          <p:nvPr/>
        </p:nvSpPr>
        <p:spPr>
          <a:xfrm>
            <a:off x="640080" y="2194560"/>
            <a:ext cx="5303520" cy="3840480"/>
          </a:xfrm>
          <a:prstGeom prst="rect">
            <a:avLst/>
          </a:prstGeom>
          <a:noFill/>
        </p:spPr>
        <p:txBody>
          <a:bodyPr wrap="square" lIns="0" rIns="0" tIns="0" bIns="0">
            <a:spAutoFit/>
          </a:bodyPr>
          <a:lstStyle/>
          <a:p>
            <a:pPr algn="l">
              <a:lnSpc>
                <a:spcPct val="150000"/>
              </a:lnSpc>
            </a:pPr>
            <a:r>
              <a:rPr sz="1500" b="0">
                <a:solidFill>
                  <a:srgbClr val="1A1A1A"/>
                </a:solidFill>
                <a:latin typeface="Helvetica Neue"/>
              </a:rPr>
              <a:t>Live interview on Claude Sonnet 5.5 through the real UI</a:t>
            </a:r>
          </a:p>
          <a:p>
            <a:pPr algn="l">
              <a:lnSpc>
                <a:spcPct val="150000"/>
              </a:lnSpc>
            </a:pPr>
            <a:r>
              <a:rPr sz="1500" b="0">
                <a:solidFill>
                  <a:srgbClr val="1A1A1A"/>
                </a:solidFill>
                <a:latin typeface="Helvetica Neue"/>
              </a:rPr>
              <a:t>Kokoro voice in Podman, through the API</a:t>
            </a:r>
          </a:p>
          <a:p>
            <a:pPr algn="l">
              <a:lnSpc>
                <a:spcPct val="150000"/>
              </a:lnSpc>
            </a:pPr>
            <a:r>
              <a:rPr sz="1500" b="0">
                <a:solidFill>
                  <a:srgbClr val="1A1A1A"/>
                </a:solidFill>
                <a:latin typeface="Helvetica Neue"/>
              </a:rPr>
              <a:t>Full pipeline end to end in fake mode, UI and CLI</a:t>
            </a:r>
          </a:p>
          <a:p>
            <a:pPr algn="l">
              <a:lnSpc>
                <a:spcPct val="150000"/>
              </a:lnSpc>
            </a:pPr>
            <a:r>
              <a:rPr sz="1500" b="0">
                <a:solidFill>
                  <a:srgbClr val="1A1A1A"/>
                </a:solidFill>
                <a:latin typeface="Helvetica Neue"/>
              </a:rPr>
              <a:t>All five asset types rendered and downloadable</a:t>
            </a:r>
          </a:p>
          <a:p>
            <a:pPr algn="l">
              <a:lnSpc>
                <a:spcPct val="150000"/>
              </a:lnSpc>
            </a:pPr>
            <a:r>
              <a:rPr sz="1500" b="0">
                <a:solidFill>
                  <a:srgbClr val="1A1A1A"/>
                </a:solidFill>
                <a:latin typeface="Helvetica Neue"/>
              </a:rPr>
              <a:t>Session-two answer leads with what changed (fake mode)</a:t>
            </a:r>
          </a:p>
        </p:txBody>
      </p:sp>
      <p:sp>
        <p:nvSpPr>
          <p:cNvPr id="7" name="TextBox 6"/>
          <p:cNvSpPr txBox="1"/>
          <p:nvPr/>
        </p:nvSpPr>
        <p:spPr>
          <a:xfrm>
            <a:off x="6217920" y="1783080"/>
            <a:ext cx="5303520" cy="365760"/>
          </a:xfrm>
          <a:prstGeom prst="rect">
            <a:avLst/>
          </a:prstGeom>
          <a:noFill/>
        </p:spPr>
        <p:txBody>
          <a:bodyPr wrap="square" lIns="0" rIns="0" tIns="0" bIns="0">
            <a:spAutoFit/>
          </a:bodyPr>
          <a:lstStyle/>
          <a:p>
            <a:pPr algn="l">
              <a:lnSpc>
                <a:spcPct val="115000"/>
              </a:lnSpc>
            </a:pPr>
            <a:r>
              <a:rPr sz="1200" b="1">
                <a:solidFill>
                  <a:srgbClr val="0F5C5C"/>
                </a:solidFill>
                <a:latin typeface="Helvetica Neue"/>
              </a:rPr>
              <a:t>NEXT</a:t>
            </a:r>
          </a:p>
        </p:txBody>
      </p:sp>
      <p:sp>
        <p:nvSpPr>
          <p:cNvPr id="8" name="TextBox 7"/>
          <p:cNvSpPr txBox="1"/>
          <p:nvPr/>
        </p:nvSpPr>
        <p:spPr>
          <a:xfrm>
            <a:off x="6217920" y="2194560"/>
            <a:ext cx="5303520" cy="3840480"/>
          </a:xfrm>
          <a:prstGeom prst="rect">
            <a:avLst/>
          </a:prstGeom>
          <a:noFill/>
        </p:spPr>
        <p:txBody>
          <a:bodyPr wrap="square" lIns="0" rIns="0" tIns="0" bIns="0">
            <a:spAutoFit/>
          </a:bodyPr>
          <a:lstStyle/>
          <a:p>
            <a:pPr algn="l">
              <a:lnSpc>
                <a:spcPct val="150000"/>
              </a:lnSpc>
            </a:pPr>
            <a:r>
              <a:rPr sz="1500" b="0">
                <a:solidFill>
                  <a:srgbClr val="1A1A1A"/>
                </a:solidFill>
                <a:latin typeface="Helvetica Neue"/>
              </a:rPr>
              <a:t>Baseline eval in live mode: 5 trials per task, holdout tenant</a:t>
            </a:r>
          </a:p>
          <a:p>
            <a:pPr algn="l">
              <a:lnSpc>
                <a:spcPct val="150000"/>
              </a:lnSpc>
            </a:pPr>
            <a:r>
              <a:rPr sz="1500" b="0">
                <a:solidFill>
                  <a:srgbClr val="1A1A1A"/>
                </a:solidFill>
                <a:latin typeface="Helvetica Neue"/>
              </a:rPr>
              <a:t>Session two on live Managed Agents memory</a:t>
            </a:r>
          </a:p>
          <a:p>
            <a:pPr algn="l">
              <a:lnSpc>
                <a:spcPct val="150000"/>
              </a:lnSpc>
            </a:pPr>
            <a:r>
              <a:rPr sz="1500" b="0">
                <a:solidFill>
                  <a:srgbClr val="1A1A1A"/>
                </a:solidFill>
                <a:latin typeface="Helvetica Neue"/>
              </a:rPr>
              <a:t>Whisper on WebGPU on presenter hardware</a:t>
            </a:r>
          </a:p>
          <a:p>
            <a:pPr algn="l">
              <a:lnSpc>
                <a:spcPct val="150000"/>
              </a:lnSpc>
            </a:pPr>
            <a:r>
              <a:rPr sz="1500" b="0">
                <a:solidFill>
                  <a:srgbClr val="1A1A1A"/>
                </a:solidFill>
                <a:latin typeface="Helvetica Neue"/>
              </a:rPr>
              <a:t>Full podman compose stack in one command</a:t>
            </a:r>
          </a:p>
          <a:p>
            <a:pPr algn="l">
              <a:lnSpc>
                <a:spcPct val="150000"/>
              </a:lnSpc>
            </a:pPr>
            <a:r>
              <a:rPr sz="1500" b="0">
                <a:solidFill>
                  <a:srgbClr val="1A1A1A"/>
                </a:solidFill>
                <a:latin typeface="Helvetica Neue"/>
              </a:rPr>
              <a:t>Rendered-asset visual review; footnotes in .docx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